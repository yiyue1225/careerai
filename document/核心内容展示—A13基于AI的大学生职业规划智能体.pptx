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4" r:id="rId9"/>
    <p:sldId id="270" r:id="rId10"/>
    <p:sldId id="263" r:id="rId11"/>
    <p:sldId id="277" r:id="rId12"/>
    <p:sldId id="274" r:id="rId13"/>
    <p:sldId id="275" r:id="rId14"/>
    <p:sldId id="276" r:id="rId15"/>
    <p:sldId id="262" r:id="rId16"/>
    <p:sldId id="265" r:id="rId17"/>
    <p:sldId id="266" r:id="rId18"/>
    <p:sldId id="268" r:id="rId19"/>
    <p:sldId id="269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阿里巴巴普惠体" panose="02010600030101010101" charset="-122"/>
      <p:regular r:id="rId24"/>
    </p:embeddedFont>
    <p:embeddedFont>
      <p:font typeface="字由点字倔强黑" panose="02010600030101010101" charset="-122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76" y="1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svg"/><Relationship Id="rId7" Type="http://schemas.openxmlformats.org/officeDocument/2006/relationships/image" Target="../media/image34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1800000">
            <a:off x="15570334" y="3032778"/>
            <a:ext cx="1943148" cy="2866262"/>
            <a:chOff x="0" y="0"/>
            <a:chExt cx="2590864" cy="38216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3576" y="0"/>
            <a:ext cx="5685201" cy="7192550"/>
            <a:chOff x="0" y="0"/>
            <a:chExt cx="7580268" cy="9590066"/>
          </a:xfrm>
        </p:grpSpPr>
        <p:sp>
          <p:nvSpPr>
            <p:cNvPr id="9" name="Freeform 9"/>
            <p:cNvSpPr/>
            <p:nvPr/>
          </p:nvSpPr>
          <p:spPr>
            <a:xfrm>
              <a:off x="12" y="0"/>
              <a:ext cx="7580237" cy="9590139"/>
            </a:xfrm>
            <a:custGeom>
              <a:avLst/>
              <a:gdLst/>
              <a:ahLst/>
              <a:cxnLst/>
              <a:rect l="l" t="t" r="r" b="b"/>
              <a:pathLst>
                <a:path w="7580237" h="9590139">
                  <a:moveTo>
                    <a:pt x="4588625" y="0"/>
                  </a:moveTo>
                  <a:lnTo>
                    <a:pt x="7580237" y="0"/>
                  </a:lnTo>
                  <a:lnTo>
                    <a:pt x="2417560" y="8942197"/>
                  </a:lnTo>
                  <a:cubicBezTo>
                    <a:pt x="2059801" y="9561830"/>
                    <a:pt x="1267575" y="9774047"/>
                    <a:pt x="647942" y="9416415"/>
                  </a:cubicBezTo>
                  <a:cubicBezTo>
                    <a:pt x="28309" y="9058783"/>
                    <a:pt x="-183908" y="8266430"/>
                    <a:pt x="173724" y="7646797"/>
                  </a:cubicBezTo>
                  <a:lnTo>
                    <a:pt x="4588625" y="0"/>
                  </a:ln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11" name="Freeform 11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472115" y="7877175"/>
            <a:ext cx="711380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team member: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马艺、郑月乐、陈庆成、李涵倩、赵艳芬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5424" y="6636487"/>
            <a:ext cx="807715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>
                <a:solidFill>
                  <a:srgbClr val="000000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TEAM：勇闯服创队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05424" y="1019175"/>
            <a:ext cx="10238808" cy="3186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06"/>
              </a:lnSpc>
            </a:pPr>
            <a:r>
              <a:rPr lang="en-US" sz="10422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基于AI的大学生职业规划智能体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566887" cy="10287000"/>
            <a:chOff x="0" y="0"/>
            <a:chExt cx="1142251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22439" cy="13716000"/>
            </a:xfrm>
            <a:custGeom>
              <a:avLst/>
              <a:gdLst/>
              <a:ahLst/>
              <a:cxnLst/>
              <a:rect l="l" t="t" r="r" b="b"/>
              <a:pathLst>
                <a:path w="11422439" h="13716000">
                  <a:moveTo>
                    <a:pt x="0" y="0"/>
                  </a:moveTo>
                  <a:lnTo>
                    <a:pt x="10964799" y="0"/>
                  </a:lnTo>
                  <a:lnTo>
                    <a:pt x="11032490" y="157988"/>
                  </a:lnTo>
                  <a:cubicBezTo>
                    <a:pt x="11651615" y="1816608"/>
                    <a:pt x="11552555" y="3728593"/>
                    <a:pt x="10598277" y="5381498"/>
                  </a:cubicBezTo>
                  <a:cubicBezTo>
                    <a:pt x="9123172" y="7936611"/>
                    <a:pt x="7647940" y="10491851"/>
                    <a:pt x="6172708" y="13046963"/>
                  </a:cubicBezTo>
                  <a:cubicBezTo>
                    <a:pt x="6066663" y="13230605"/>
                    <a:pt x="5952617" y="13406754"/>
                    <a:pt x="5831205" y="13575156"/>
                  </a:cubicBezTo>
                  <a:lnTo>
                    <a:pt x="571842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52956" y="106426"/>
            <a:ext cx="1158747" cy="1158748"/>
            <a:chOff x="0" y="0"/>
            <a:chExt cx="1544996" cy="1544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52956" y="1410241"/>
            <a:ext cx="1158747" cy="1158748"/>
            <a:chOff x="0" y="0"/>
            <a:chExt cx="1544996" cy="15449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52956" y="2797590"/>
            <a:ext cx="1158747" cy="1158749"/>
            <a:chOff x="0" y="0"/>
            <a:chExt cx="1544996" cy="15449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52956" y="4105285"/>
            <a:ext cx="1158747" cy="1158749"/>
            <a:chOff x="0" y="0"/>
            <a:chExt cx="1544996" cy="15449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755487" y="414338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项目背景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55487" y="1683165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团队介绍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3465" y="2949990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项目概要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93465" y="4341566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痛点分析及目标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78348" y="342900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78348" y="1611727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78348" y="3091214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78348" y="4431906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06090" y="5466219"/>
            <a:ext cx="335470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CONTENTS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06090" y="4315956"/>
            <a:ext cx="335470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9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目  录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452956" y="5424304"/>
            <a:ext cx="1158747" cy="1158749"/>
            <a:chOff x="0" y="0"/>
            <a:chExt cx="1544996" cy="15449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52956" y="6811652"/>
            <a:ext cx="1158747" cy="1158749"/>
            <a:chOff x="0" y="0"/>
            <a:chExt cx="1544996" cy="15449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52956" y="8275201"/>
            <a:ext cx="1158747" cy="1158749"/>
            <a:chOff x="0" y="0"/>
            <a:chExt cx="1544996" cy="154499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45082" cy="1545082"/>
            </a:xfrm>
            <a:custGeom>
              <a:avLst/>
              <a:gdLst/>
              <a:ahLst/>
              <a:cxnLst/>
              <a:rect l="l" t="t" r="r" b="b"/>
              <a:pathLst>
                <a:path w="1545082" h="1545082">
                  <a:moveTo>
                    <a:pt x="0" y="772541"/>
                  </a:moveTo>
                  <a:cubicBezTo>
                    <a:pt x="0" y="345821"/>
                    <a:pt x="345821" y="0"/>
                    <a:pt x="772541" y="0"/>
                  </a:cubicBezTo>
                  <a:cubicBezTo>
                    <a:pt x="1199261" y="0"/>
                    <a:pt x="1545082" y="345821"/>
                    <a:pt x="1545082" y="772541"/>
                  </a:cubicBezTo>
                  <a:cubicBezTo>
                    <a:pt x="1545082" y="1199261"/>
                    <a:pt x="1199261" y="1545082"/>
                    <a:pt x="772541" y="1545082"/>
                  </a:cubicBezTo>
                  <a:cubicBezTo>
                    <a:pt x="345821" y="1545082"/>
                    <a:pt x="0" y="1199134"/>
                    <a:pt x="0" y="772541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893464" y="5732216"/>
            <a:ext cx="4784935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技术路线及功能亮点</a:t>
            </a:r>
            <a:endParaRPr lang="en-US" sz="36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893465" y="7119564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系统演示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93465" y="8583112"/>
            <a:ext cx="379982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项目优势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78348" y="5694943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78348" y="7011677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78348" y="8551426"/>
            <a:ext cx="70796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5" name="Freeform 5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39657" y="6067423"/>
            <a:ext cx="5419568" cy="753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1"/>
              </a:lnSpc>
            </a:pPr>
            <a:r>
              <a:rPr lang="en-US" sz="4993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项目背景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10024" y="6821604"/>
            <a:ext cx="3678833" cy="60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9"/>
              </a:lnSpc>
              <a:spcBef>
                <a:spcPct val="0"/>
              </a:spcBef>
            </a:pPr>
            <a:r>
              <a:rPr lang="en-US" sz="2899" dirty="0">
                <a:solidFill>
                  <a:srgbClr val="113AA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Project   </a:t>
            </a:r>
            <a:r>
              <a:rPr lang="en-US" altLang="zh-CN" sz="2899" dirty="0">
                <a:solidFill>
                  <a:srgbClr val="113AA6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Background</a:t>
            </a:r>
            <a:endParaRPr lang="en-US" sz="2899" dirty="0">
              <a:solidFill>
                <a:srgbClr val="113AA6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项目背景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12" name="Freeform 12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14" name="Freeform 14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16" name="Freeform 16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6576585"/>
            <a:ext cx="233475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背景概述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052925"/>
            <a:ext cx="16230600" cy="162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117" lvl="1" indent="-226058" algn="l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数字经济与产业升级双轮驱动，就业市场呈现冰火两重天</a:t>
            </a:r>
          </a:p>
          <a:p>
            <a:pPr marL="452117" lvl="1" indent="-226058" algn="l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传统职业规划模式无法适配复杂就业环境，应用创新科技推进现代教育，数据融合推动未来发展</a:t>
            </a:r>
          </a:p>
          <a:p>
            <a:pPr marL="452434" lvl="1" indent="-226217" algn="l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以人工智能大数据、云计算为核心，形成数据整合、智能消算法壁垒、构建全国服务器网络，服务时效≤2h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2986" y="3008403"/>
            <a:ext cx="16216314" cy="2934837"/>
            <a:chOff x="0" y="0"/>
            <a:chExt cx="21621752" cy="39131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621758" cy="3913124"/>
            </a:xfrm>
            <a:custGeom>
              <a:avLst/>
              <a:gdLst/>
              <a:ahLst/>
              <a:cxnLst/>
              <a:rect l="l" t="t" r="r" b="b"/>
              <a:pathLst>
                <a:path w="21621758" h="3913124">
                  <a:moveTo>
                    <a:pt x="0" y="0"/>
                  </a:moveTo>
                  <a:lnTo>
                    <a:pt x="21621758" y="0"/>
                  </a:lnTo>
                  <a:lnTo>
                    <a:pt x="21621758" y="3913124"/>
                  </a:lnTo>
                  <a:lnTo>
                    <a:pt x="0" y="3913124"/>
                  </a:lnTo>
                  <a:close/>
                </a:path>
              </a:pathLst>
            </a:custGeom>
            <a:blipFill>
              <a:blip r:embed="rId2"/>
              <a:stretch>
                <a:fillRect t="-87330" b="-87330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 dirty="0">
                <a:solidFill>
                  <a:srgbClr val="315CBE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7278" y="5258164"/>
            <a:ext cx="458903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315CBE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团队介绍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52100" y="6013848"/>
            <a:ext cx="3879389" cy="66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3199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Team    Introduction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8" name="Freeform 8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 err="1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工作不足之处</a:t>
            </a:r>
            <a:endParaRPr lang="en-US" sz="42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13" name="Freeform 13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15" name="Freeform 15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17" name="Freeform 17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57600" y="4789873"/>
            <a:ext cx="3386789" cy="1538084"/>
            <a:chOff x="0" y="0"/>
            <a:chExt cx="5387340" cy="20878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87340" cy="2087880"/>
            </a:xfrm>
            <a:custGeom>
              <a:avLst/>
              <a:gdLst/>
              <a:ahLst/>
              <a:cxnLst/>
              <a:rect l="l" t="t" r="r" b="b"/>
              <a:pathLst>
                <a:path w="5387340" h="2087880">
                  <a:moveTo>
                    <a:pt x="0" y="0"/>
                  </a:moveTo>
                  <a:lnTo>
                    <a:pt x="1066800" y="0"/>
                  </a:lnTo>
                  <a:lnTo>
                    <a:pt x="3276600" y="0"/>
                  </a:lnTo>
                  <a:lnTo>
                    <a:pt x="4343400" y="0"/>
                  </a:lnTo>
                  <a:lnTo>
                    <a:pt x="5387340" y="1043940"/>
                  </a:lnTo>
                  <a:lnTo>
                    <a:pt x="4343400" y="2087880"/>
                  </a:lnTo>
                  <a:lnTo>
                    <a:pt x="3276600" y="2087880"/>
                  </a:lnTo>
                  <a:lnTo>
                    <a:pt x="1066800" y="2087880"/>
                  </a:lnTo>
                  <a:lnTo>
                    <a:pt x="0" y="2087880"/>
                  </a:lnTo>
                  <a:lnTo>
                    <a:pt x="1043940" y="104394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69453" y="4789873"/>
            <a:ext cx="3188147" cy="1538084"/>
            <a:chOff x="0" y="0"/>
            <a:chExt cx="5387340" cy="20878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87340" cy="2087880"/>
            </a:xfrm>
            <a:custGeom>
              <a:avLst/>
              <a:gdLst/>
              <a:ahLst/>
              <a:cxnLst/>
              <a:rect l="l" t="t" r="r" b="b"/>
              <a:pathLst>
                <a:path w="5387340" h="2087880">
                  <a:moveTo>
                    <a:pt x="0" y="0"/>
                  </a:moveTo>
                  <a:lnTo>
                    <a:pt x="727710" y="0"/>
                  </a:lnTo>
                  <a:lnTo>
                    <a:pt x="3615690" y="0"/>
                  </a:lnTo>
                  <a:lnTo>
                    <a:pt x="4343400" y="0"/>
                  </a:lnTo>
                  <a:lnTo>
                    <a:pt x="5387340" y="1043940"/>
                  </a:lnTo>
                  <a:lnTo>
                    <a:pt x="4343400" y="2087880"/>
                  </a:lnTo>
                  <a:lnTo>
                    <a:pt x="3615690" y="2087880"/>
                  </a:lnTo>
                  <a:lnTo>
                    <a:pt x="727710" y="2087880"/>
                  </a:lnTo>
                  <a:lnTo>
                    <a:pt x="0" y="208788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72395" y="4789873"/>
            <a:ext cx="3188147" cy="1496627"/>
            <a:chOff x="0" y="0"/>
            <a:chExt cx="5387340" cy="20878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87340" cy="2087880"/>
            </a:xfrm>
            <a:custGeom>
              <a:avLst/>
              <a:gdLst/>
              <a:ahLst/>
              <a:cxnLst/>
              <a:rect l="l" t="t" r="r" b="b"/>
              <a:pathLst>
                <a:path w="5387340" h="2087880">
                  <a:moveTo>
                    <a:pt x="0" y="0"/>
                  </a:moveTo>
                  <a:lnTo>
                    <a:pt x="1066800" y="0"/>
                  </a:lnTo>
                  <a:lnTo>
                    <a:pt x="3276600" y="0"/>
                  </a:lnTo>
                  <a:lnTo>
                    <a:pt x="4343400" y="0"/>
                  </a:lnTo>
                  <a:lnTo>
                    <a:pt x="5387340" y="1043940"/>
                  </a:lnTo>
                  <a:lnTo>
                    <a:pt x="4343400" y="2087880"/>
                  </a:lnTo>
                  <a:lnTo>
                    <a:pt x="3276600" y="2087880"/>
                  </a:lnTo>
                  <a:lnTo>
                    <a:pt x="1066800" y="2087880"/>
                  </a:lnTo>
                  <a:lnTo>
                    <a:pt x="0" y="2087880"/>
                  </a:lnTo>
                  <a:lnTo>
                    <a:pt x="1043940" y="104394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1" y="4759084"/>
            <a:ext cx="3146107" cy="1527416"/>
            <a:chOff x="0" y="0"/>
            <a:chExt cx="5387340" cy="2087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87340" cy="2087880"/>
            </a:xfrm>
            <a:custGeom>
              <a:avLst/>
              <a:gdLst/>
              <a:ahLst/>
              <a:cxnLst/>
              <a:rect l="l" t="t" r="r" b="b"/>
              <a:pathLst>
                <a:path w="5387340" h="2087880">
                  <a:moveTo>
                    <a:pt x="0" y="0"/>
                  </a:moveTo>
                  <a:lnTo>
                    <a:pt x="1066800" y="0"/>
                  </a:lnTo>
                  <a:lnTo>
                    <a:pt x="3276600" y="0"/>
                  </a:lnTo>
                  <a:lnTo>
                    <a:pt x="4343400" y="0"/>
                  </a:lnTo>
                  <a:lnTo>
                    <a:pt x="5387340" y="1043940"/>
                  </a:lnTo>
                  <a:lnTo>
                    <a:pt x="4343400" y="2087880"/>
                  </a:lnTo>
                  <a:lnTo>
                    <a:pt x="3276600" y="2087880"/>
                  </a:lnTo>
                  <a:lnTo>
                    <a:pt x="1066800" y="2087880"/>
                  </a:lnTo>
                  <a:lnTo>
                    <a:pt x="0" y="2087880"/>
                  </a:lnTo>
                  <a:lnTo>
                    <a:pt x="1043940" y="104394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7747" y="5325552"/>
            <a:ext cx="14861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问题一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8700" y="7212659"/>
            <a:ext cx="4069078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dirty="0" err="1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</a:t>
            </a:r>
            <a:r>
              <a:rPr lang="en-US" sz="18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1000" y="2285339"/>
            <a:ext cx="4067177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dirty="0" err="1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</a:t>
            </a:r>
            <a:r>
              <a:rPr lang="en-US" sz="18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90221" y="3375739"/>
            <a:ext cx="406907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 dirty="0" err="1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</a:t>
            </a:r>
            <a:r>
              <a:rPr lang="en-US" sz="18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10658" y="7212659"/>
            <a:ext cx="4093850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38494" y="5325552"/>
            <a:ext cx="14861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问题二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025283" y="5325552"/>
            <a:ext cx="14861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问题三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888363" y="5304823"/>
            <a:ext cx="148618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 err="1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问题四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8FD994B-DFB5-CC20-1B3B-0A06E577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495" y="4745697"/>
            <a:ext cx="3145809" cy="152413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5CEF62-994A-1CB0-A0FC-D15E66FD4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1444" y="5099295"/>
            <a:ext cx="1621677" cy="816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7278" y="5258164"/>
            <a:ext cx="458903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zh-CN" altLang="en-US" sz="48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项目概要</a:t>
            </a:r>
            <a:endParaRPr lang="en-US" sz="48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647540" y="6090532"/>
            <a:ext cx="4087260" cy="423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2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Project      Summary</a:t>
            </a:r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9" name="Freeform 9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2988" y="4299992"/>
            <a:ext cx="3420428" cy="1227882"/>
            <a:chOff x="0" y="0"/>
            <a:chExt cx="4560570" cy="16371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60570" cy="1637157"/>
            </a:xfrm>
            <a:custGeom>
              <a:avLst/>
              <a:gdLst/>
              <a:ahLst/>
              <a:cxnLst/>
              <a:rect l="l" t="t" r="r" b="b"/>
              <a:pathLst>
                <a:path w="4560570" h="1637157">
                  <a:moveTo>
                    <a:pt x="0" y="0"/>
                  </a:moveTo>
                  <a:lnTo>
                    <a:pt x="4560570" y="0"/>
                  </a:lnTo>
                  <a:lnTo>
                    <a:pt x="4560570" y="1637157"/>
                  </a:lnTo>
                  <a:lnTo>
                    <a:pt x="0" y="163715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34574" y="4385092"/>
            <a:ext cx="1057683" cy="1057683"/>
            <a:chOff x="0" y="0"/>
            <a:chExt cx="1410244" cy="14102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10208" cy="1410208"/>
            </a:xfrm>
            <a:custGeom>
              <a:avLst/>
              <a:gdLst/>
              <a:ahLst/>
              <a:cxnLst/>
              <a:rect l="l" t="t" r="r" b="b"/>
              <a:pathLst>
                <a:path w="1410208" h="1410208">
                  <a:moveTo>
                    <a:pt x="0" y="705104"/>
                  </a:moveTo>
                  <a:cubicBezTo>
                    <a:pt x="0" y="315722"/>
                    <a:pt x="315722" y="0"/>
                    <a:pt x="705104" y="0"/>
                  </a:cubicBezTo>
                  <a:cubicBezTo>
                    <a:pt x="1094486" y="0"/>
                    <a:pt x="1410208" y="315722"/>
                    <a:pt x="1410208" y="705104"/>
                  </a:cubicBezTo>
                  <a:cubicBezTo>
                    <a:pt x="1410208" y="1094486"/>
                    <a:pt x="1094486" y="1410208"/>
                    <a:pt x="705104" y="1410208"/>
                  </a:cubicBezTo>
                  <a:cubicBezTo>
                    <a:pt x="315722" y="1410208"/>
                    <a:pt x="0" y="1094613"/>
                    <a:pt x="0" y="70510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68156" y="4418674"/>
            <a:ext cx="990517" cy="990518"/>
            <a:chOff x="0" y="0"/>
            <a:chExt cx="1320690" cy="13206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0800" cy="1320800"/>
            </a:xfrm>
            <a:custGeom>
              <a:avLst/>
              <a:gdLst/>
              <a:ahLst/>
              <a:cxnLst/>
              <a:rect l="l" t="t" r="r" b="b"/>
              <a:pathLst>
                <a:path w="1320800" h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017"/>
                    <a:pt x="0" y="660400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53688" y="4299992"/>
            <a:ext cx="3420428" cy="1227882"/>
            <a:chOff x="0" y="0"/>
            <a:chExt cx="4560570" cy="16371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60570" cy="1637157"/>
            </a:xfrm>
            <a:custGeom>
              <a:avLst/>
              <a:gdLst/>
              <a:ahLst/>
              <a:cxnLst/>
              <a:rect l="l" t="t" r="r" b="b"/>
              <a:pathLst>
                <a:path w="4560570" h="1637157">
                  <a:moveTo>
                    <a:pt x="0" y="0"/>
                  </a:moveTo>
                  <a:lnTo>
                    <a:pt x="4560570" y="0"/>
                  </a:lnTo>
                  <a:lnTo>
                    <a:pt x="4560570" y="1637157"/>
                  </a:lnTo>
                  <a:lnTo>
                    <a:pt x="0" y="163715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45274" y="4385092"/>
            <a:ext cx="1057683" cy="1057683"/>
            <a:chOff x="0" y="0"/>
            <a:chExt cx="1410244" cy="14102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0208" cy="1410208"/>
            </a:xfrm>
            <a:custGeom>
              <a:avLst/>
              <a:gdLst/>
              <a:ahLst/>
              <a:cxnLst/>
              <a:rect l="l" t="t" r="r" b="b"/>
              <a:pathLst>
                <a:path w="1410208" h="1410208">
                  <a:moveTo>
                    <a:pt x="0" y="705104"/>
                  </a:moveTo>
                  <a:cubicBezTo>
                    <a:pt x="0" y="315722"/>
                    <a:pt x="315722" y="0"/>
                    <a:pt x="705104" y="0"/>
                  </a:cubicBezTo>
                  <a:cubicBezTo>
                    <a:pt x="1094486" y="0"/>
                    <a:pt x="1410208" y="315722"/>
                    <a:pt x="1410208" y="705104"/>
                  </a:cubicBezTo>
                  <a:cubicBezTo>
                    <a:pt x="1410208" y="1094486"/>
                    <a:pt x="1094486" y="1410208"/>
                    <a:pt x="705104" y="1410208"/>
                  </a:cubicBezTo>
                  <a:cubicBezTo>
                    <a:pt x="315722" y="1410208"/>
                    <a:pt x="0" y="1094613"/>
                    <a:pt x="0" y="70510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78856" y="4418674"/>
            <a:ext cx="990517" cy="990518"/>
            <a:chOff x="0" y="0"/>
            <a:chExt cx="1320690" cy="13206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20800" cy="1320800"/>
            </a:xfrm>
            <a:custGeom>
              <a:avLst/>
              <a:gdLst/>
              <a:ahLst/>
              <a:cxnLst/>
              <a:rect l="l" t="t" r="r" b="b"/>
              <a:pathLst>
                <a:path w="1320800" h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017"/>
                    <a:pt x="0" y="660400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Freeform 28"/>
          <p:cNvSpPr/>
          <p:nvPr/>
        </p:nvSpPr>
        <p:spPr>
          <a:xfrm>
            <a:off x="13636063" y="4671473"/>
            <a:ext cx="476103" cy="484920"/>
          </a:xfrm>
          <a:custGeom>
            <a:avLst/>
            <a:gdLst/>
            <a:ahLst/>
            <a:cxnLst/>
            <a:rect l="l" t="t" r="r" b="b"/>
            <a:pathLst>
              <a:path w="476103" h="484920">
                <a:moveTo>
                  <a:pt x="0" y="0"/>
                </a:moveTo>
                <a:lnTo>
                  <a:pt x="476104" y="0"/>
                </a:lnTo>
                <a:lnTo>
                  <a:pt x="476104" y="484920"/>
                </a:lnTo>
                <a:lnTo>
                  <a:pt x="0" y="484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29"/>
          <p:cNvSpPr/>
          <p:nvPr/>
        </p:nvSpPr>
        <p:spPr>
          <a:xfrm>
            <a:off x="4147014" y="4685333"/>
            <a:ext cx="632803" cy="457200"/>
          </a:xfrm>
          <a:custGeom>
            <a:avLst/>
            <a:gdLst/>
            <a:ahLst/>
            <a:cxnLst/>
            <a:rect l="l" t="t" r="r" b="b"/>
            <a:pathLst>
              <a:path w="632803" h="457200">
                <a:moveTo>
                  <a:pt x="0" y="0"/>
                </a:moveTo>
                <a:lnTo>
                  <a:pt x="632802" y="0"/>
                </a:lnTo>
                <a:lnTo>
                  <a:pt x="632802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1554855" y="4675808"/>
            <a:ext cx="186785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主要业务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5993131"/>
            <a:ext cx="6805612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65555" y="4675808"/>
            <a:ext cx="1867852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项目介绍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53688" y="5993131"/>
            <a:ext cx="6805612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项目概要</a:t>
            </a:r>
            <a:endParaRPr lang="en-US" sz="42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Summary of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7278" y="5258164"/>
            <a:ext cx="5527302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zh-CN" altLang="en-US" sz="54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痛点分析及目标</a:t>
            </a:r>
            <a:endParaRPr lang="en-US" sz="54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59010" y="6125801"/>
            <a:ext cx="6823590" cy="423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2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Pain Point Analysis and Objectives</a:t>
            </a:r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9" name="Freeform 9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97404" y="3607685"/>
            <a:ext cx="4693192" cy="4693192"/>
            <a:chOff x="0" y="0"/>
            <a:chExt cx="5289204" cy="52892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89169" cy="5289296"/>
            </a:xfrm>
            <a:custGeom>
              <a:avLst/>
              <a:gdLst/>
              <a:ahLst/>
              <a:cxnLst/>
              <a:rect l="l" t="t" r="r" b="b"/>
              <a:pathLst>
                <a:path w="5289169" h="5289296">
                  <a:moveTo>
                    <a:pt x="0" y="2644648"/>
                  </a:moveTo>
                  <a:cubicBezTo>
                    <a:pt x="0" y="1184021"/>
                    <a:pt x="1184021" y="0"/>
                    <a:pt x="2644648" y="0"/>
                  </a:cubicBezTo>
                  <a:lnTo>
                    <a:pt x="2644648" y="38100"/>
                  </a:lnTo>
                  <a:lnTo>
                    <a:pt x="2644648" y="0"/>
                  </a:lnTo>
                  <a:cubicBezTo>
                    <a:pt x="4105148" y="0"/>
                    <a:pt x="5289169" y="1184021"/>
                    <a:pt x="5289169" y="2644648"/>
                  </a:cubicBezTo>
                  <a:lnTo>
                    <a:pt x="5251069" y="2644648"/>
                  </a:lnTo>
                  <a:lnTo>
                    <a:pt x="5289169" y="2644648"/>
                  </a:lnTo>
                  <a:cubicBezTo>
                    <a:pt x="5289169" y="4105275"/>
                    <a:pt x="4105148" y="5289296"/>
                    <a:pt x="2644521" y="5289296"/>
                  </a:cubicBezTo>
                  <a:lnTo>
                    <a:pt x="2644521" y="5251196"/>
                  </a:lnTo>
                  <a:lnTo>
                    <a:pt x="2644521" y="5289296"/>
                  </a:lnTo>
                  <a:cubicBezTo>
                    <a:pt x="1184021" y="5289169"/>
                    <a:pt x="0" y="4105148"/>
                    <a:pt x="0" y="2644648"/>
                  </a:cubicBezTo>
                  <a:lnTo>
                    <a:pt x="38100" y="2644648"/>
                  </a:lnTo>
                  <a:lnTo>
                    <a:pt x="76200" y="2644648"/>
                  </a:lnTo>
                  <a:lnTo>
                    <a:pt x="38100" y="2644648"/>
                  </a:lnTo>
                  <a:lnTo>
                    <a:pt x="0" y="2644648"/>
                  </a:lnTo>
                  <a:moveTo>
                    <a:pt x="76200" y="2644648"/>
                  </a:moveTo>
                  <a:cubicBezTo>
                    <a:pt x="76200" y="2665730"/>
                    <a:pt x="59182" y="2682748"/>
                    <a:pt x="38100" y="2682748"/>
                  </a:cubicBezTo>
                  <a:cubicBezTo>
                    <a:pt x="17018" y="2682748"/>
                    <a:pt x="0" y="2665730"/>
                    <a:pt x="0" y="2644648"/>
                  </a:cubicBezTo>
                  <a:cubicBezTo>
                    <a:pt x="0" y="2623566"/>
                    <a:pt x="17018" y="2606548"/>
                    <a:pt x="38100" y="2606548"/>
                  </a:cubicBezTo>
                  <a:cubicBezTo>
                    <a:pt x="59182" y="2606548"/>
                    <a:pt x="76200" y="2623566"/>
                    <a:pt x="76200" y="2644648"/>
                  </a:cubicBezTo>
                  <a:cubicBezTo>
                    <a:pt x="76200" y="4063111"/>
                    <a:pt x="1226058" y="5212969"/>
                    <a:pt x="2644648" y="5212969"/>
                  </a:cubicBezTo>
                  <a:cubicBezTo>
                    <a:pt x="4063238" y="5212969"/>
                    <a:pt x="5213096" y="4063111"/>
                    <a:pt x="5213096" y="2644521"/>
                  </a:cubicBezTo>
                  <a:cubicBezTo>
                    <a:pt x="5213096" y="1225931"/>
                    <a:pt x="4063111" y="76200"/>
                    <a:pt x="2644648" y="76200"/>
                  </a:cubicBezTo>
                  <a:lnTo>
                    <a:pt x="2644648" y="38100"/>
                  </a:lnTo>
                  <a:lnTo>
                    <a:pt x="2644648" y="76200"/>
                  </a:lnTo>
                  <a:cubicBezTo>
                    <a:pt x="1226058" y="76200"/>
                    <a:pt x="76200" y="1226058"/>
                    <a:pt x="76200" y="2644648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46075" y="5064073"/>
            <a:ext cx="2065283" cy="1780416"/>
            <a:chOff x="0" y="0"/>
            <a:chExt cx="2327564" cy="2006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27529" cy="2006600"/>
            </a:xfrm>
            <a:custGeom>
              <a:avLst/>
              <a:gdLst/>
              <a:ahLst/>
              <a:cxnLst/>
              <a:rect l="l" t="t" r="r" b="b"/>
              <a:pathLst>
                <a:path w="2327529" h="2006600">
                  <a:moveTo>
                    <a:pt x="0" y="1003300"/>
                  </a:moveTo>
                  <a:lnTo>
                    <a:pt x="501650" y="0"/>
                  </a:lnTo>
                  <a:lnTo>
                    <a:pt x="1825879" y="0"/>
                  </a:lnTo>
                  <a:lnTo>
                    <a:pt x="2327529" y="1003300"/>
                  </a:lnTo>
                  <a:lnTo>
                    <a:pt x="1825879" y="2006600"/>
                  </a:lnTo>
                  <a:lnTo>
                    <a:pt x="501650" y="200660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11358" y="2998790"/>
            <a:ext cx="2065283" cy="1780416"/>
            <a:chOff x="0" y="0"/>
            <a:chExt cx="2327564" cy="2006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27529" cy="2006600"/>
            </a:xfrm>
            <a:custGeom>
              <a:avLst/>
              <a:gdLst/>
              <a:ahLst/>
              <a:cxnLst/>
              <a:rect l="l" t="t" r="r" b="b"/>
              <a:pathLst>
                <a:path w="2327529" h="2006600">
                  <a:moveTo>
                    <a:pt x="0" y="1003300"/>
                  </a:moveTo>
                  <a:lnTo>
                    <a:pt x="501650" y="0"/>
                  </a:lnTo>
                  <a:lnTo>
                    <a:pt x="1825879" y="0"/>
                  </a:lnTo>
                  <a:lnTo>
                    <a:pt x="2327529" y="1003300"/>
                  </a:lnTo>
                  <a:lnTo>
                    <a:pt x="1825879" y="2006600"/>
                  </a:lnTo>
                  <a:lnTo>
                    <a:pt x="501650" y="200660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76642" y="5064073"/>
            <a:ext cx="2065283" cy="1780416"/>
            <a:chOff x="0" y="0"/>
            <a:chExt cx="2327564" cy="2006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27529" cy="2006600"/>
            </a:xfrm>
            <a:custGeom>
              <a:avLst/>
              <a:gdLst/>
              <a:ahLst/>
              <a:cxnLst/>
              <a:rect l="l" t="t" r="r" b="b"/>
              <a:pathLst>
                <a:path w="2327529" h="2006600">
                  <a:moveTo>
                    <a:pt x="0" y="1003300"/>
                  </a:moveTo>
                  <a:lnTo>
                    <a:pt x="501650" y="0"/>
                  </a:lnTo>
                  <a:lnTo>
                    <a:pt x="1825879" y="0"/>
                  </a:lnTo>
                  <a:lnTo>
                    <a:pt x="2327529" y="1003300"/>
                  </a:lnTo>
                  <a:lnTo>
                    <a:pt x="1825879" y="2006600"/>
                  </a:lnTo>
                  <a:lnTo>
                    <a:pt x="501650" y="200660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11358" y="7129357"/>
            <a:ext cx="2065283" cy="1780416"/>
            <a:chOff x="0" y="0"/>
            <a:chExt cx="2327564" cy="2006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27529" cy="2006600"/>
            </a:xfrm>
            <a:custGeom>
              <a:avLst/>
              <a:gdLst/>
              <a:ahLst/>
              <a:cxnLst/>
              <a:rect l="l" t="t" r="r" b="b"/>
              <a:pathLst>
                <a:path w="2327529" h="2006600">
                  <a:moveTo>
                    <a:pt x="0" y="1003300"/>
                  </a:moveTo>
                  <a:lnTo>
                    <a:pt x="501650" y="0"/>
                  </a:lnTo>
                  <a:lnTo>
                    <a:pt x="1825879" y="0"/>
                  </a:lnTo>
                  <a:lnTo>
                    <a:pt x="2327529" y="1003300"/>
                  </a:lnTo>
                  <a:lnTo>
                    <a:pt x="1825879" y="2006600"/>
                  </a:lnTo>
                  <a:lnTo>
                    <a:pt x="501650" y="200660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718992" y="5510568"/>
            <a:ext cx="980583" cy="887427"/>
          </a:xfrm>
          <a:custGeom>
            <a:avLst/>
            <a:gdLst/>
            <a:ahLst/>
            <a:cxnLst/>
            <a:rect l="l" t="t" r="r" b="b"/>
            <a:pathLst>
              <a:path w="980583" h="887427">
                <a:moveTo>
                  <a:pt x="0" y="0"/>
                </a:moveTo>
                <a:lnTo>
                  <a:pt x="980583" y="0"/>
                </a:lnTo>
                <a:lnTo>
                  <a:pt x="980583" y="887427"/>
                </a:lnTo>
                <a:lnTo>
                  <a:pt x="0" y="887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27"/>
          <p:cNvSpPr/>
          <p:nvPr/>
        </p:nvSpPr>
        <p:spPr>
          <a:xfrm>
            <a:off x="8730943" y="7575851"/>
            <a:ext cx="826114" cy="887427"/>
          </a:xfrm>
          <a:custGeom>
            <a:avLst/>
            <a:gdLst/>
            <a:ahLst/>
            <a:cxnLst/>
            <a:rect l="l" t="t" r="r" b="b"/>
            <a:pathLst>
              <a:path w="826114" h="887427">
                <a:moveTo>
                  <a:pt x="0" y="0"/>
                </a:moveTo>
                <a:lnTo>
                  <a:pt x="826114" y="0"/>
                </a:lnTo>
                <a:lnTo>
                  <a:pt x="826114" y="887428"/>
                </a:lnTo>
                <a:lnTo>
                  <a:pt x="0" y="887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28"/>
          <p:cNvSpPr/>
          <p:nvPr/>
        </p:nvSpPr>
        <p:spPr>
          <a:xfrm>
            <a:off x="8733565" y="3445284"/>
            <a:ext cx="820870" cy="887427"/>
          </a:xfrm>
          <a:custGeom>
            <a:avLst/>
            <a:gdLst/>
            <a:ahLst/>
            <a:cxnLst/>
            <a:rect l="l" t="t" r="r" b="b"/>
            <a:pathLst>
              <a:path w="820870" h="887427">
                <a:moveTo>
                  <a:pt x="0" y="0"/>
                </a:moveTo>
                <a:lnTo>
                  <a:pt x="820870" y="0"/>
                </a:lnTo>
                <a:lnTo>
                  <a:pt x="820870" y="887428"/>
                </a:lnTo>
                <a:lnTo>
                  <a:pt x="0" y="88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29"/>
          <p:cNvSpPr/>
          <p:nvPr/>
        </p:nvSpPr>
        <p:spPr>
          <a:xfrm>
            <a:off x="6744267" y="5510568"/>
            <a:ext cx="668898" cy="887427"/>
          </a:xfrm>
          <a:custGeom>
            <a:avLst/>
            <a:gdLst/>
            <a:ahLst/>
            <a:cxnLst/>
            <a:rect l="l" t="t" r="r" b="b"/>
            <a:pathLst>
              <a:path w="668898" h="887427">
                <a:moveTo>
                  <a:pt x="0" y="0"/>
                </a:moveTo>
                <a:lnTo>
                  <a:pt x="668899" y="0"/>
                </a:lnTo>
                <a:lnTo>
                  <a:pt x="668899" y="887427"/>
                </a:lnTo>
                <a:lnTo>
                  <a:pt x="0" y="8874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138403" y="3267472"/>
            <a:ext cx="603682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自我认知不清晰，职业定位模糊</a:t>
            </a:r>
            <a:endParaRPr lang="en-US" sz="30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40003" y="3938258"/>
            <a:ext cx="4964238" cy="2035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很多学生对自身兴趣、能力、性格、价值观等认知不足，无法准确判断适合自己的发展方向，容易出现“盲目跟风考研”“扎堆考公”“随意投递简历”等现象。 </a:t>
            </a:r>
            <a:endParaRPr lang="en-US" sz="2400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99562" y="6549222"/>
            <a:ext cx="485199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职业信息分散，获取效率低</a:t>
            </a:r>
            <a:endParaRPr lang="en-US" sz="30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8700" y="7245916"/>
            <a:ext cx="4305300" cy="2028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zh-CN" sz="2400" b="1" dirty="0"/>
              <a:t>学生对行业发展趋势、岗位能力要求、证书含金量、升学与就业路径等信息缺乏系统了解，通常依赖碎片化网络信息，导致认知片面、判断失真。</a:t>
            </a:r>
            <a:endParaRPr lang="en-US" sz="2400" b="1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219482" y="2637485"/>
            <a:ext cx="53450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指导资源有限，个性化程度不足</a:t>
            </a:r>
            <a:endParaRPr lang="en-US" sz="30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791071" y="3361984"/>
            <a:ext cx="4824976" cy="1625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高校就业指导教师人数有限，难以针对每名学生持续提供一对一指导，导致很多学生虽有职业规划需求，却无法获得长期、精准的支持。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22886" y="6057382"/>
            <a:ext cx="469316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规划落地性差，缺乏实践</a:t>
            </a:r>
            <a:endParaRPr lang="en-US" sz="30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766276" y="6844560"/>
            <a:ext cx="4987782" cy="2035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学生在不同年级、不同成长阶段的目标会发生变化，外部就业环境也在持续变化，职业规划需要实时修正，而传统方式难以做到持续跟踪和智能迭代。</a:t>
            </a:r>
            <a:endParaRPr lang="en-US" sz="2400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痛点分析</a:t>
            </a:r>
            <a:endParaRPr lang="en-US" sz="42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130828" y="1219993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Summary of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269E5-4279-02CC-630D-AC80CA23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2FF821-EB84-779E-03E9-1E95AE3FD1F7}"/>
              </a:ext>
            </a:extLst>
          </p:cNvPr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60E6E9-88F9-A90B-87BC-8D1FA00F2CE3}"/>
                </a:ext>
              </a:extLst>
            </p:cNvPr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74E98BE-3031-A302-4123-495C680A8F8C}"/>
              </a:ext>
            </a:extLst>
          </p:cNvPr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727EE8-E375-FEA2-839B-98AB209BFC28}"/>
                </a:ext>
              </a:extLst>
            </p:cNvPr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ED6D521-CEB2-24F5-7B2B-05EA208CA02B}"/>
              </a:ext>
            </a:extLst>
          </p:cNvPr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4FFC2D9-4A11-4157-6939-3F19A0452811}"/>
                </a:ext>
              </a:extLst>
            </p:cNvPr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995D9BC-2101-D8CF-F426-90FEC43BADA3}"/>
              </a:ext>
            </a:extLst>
          </p:cNvPr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4170D28-31D2-E97E-6C46-994A9E9B5356}"/>
                </a:ext>
              </a:extLst>
            </p:cNvPr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9FAF9BE-7DED-A7F8-410F-29AB41CD3266}"/>
              </a:ext>
            </a:extLst>
          </p:cNvPr>
          <p:cNvGrpSpPr/>
          <p:nvPr/>
        </p:nvGrpSpPr>
        <p:grpSpPr>
          <a:xfrm>
            <a:off x="61060" y="1970844"/>
            <a:ext cx="3420428" cy="1227882"/>
            <a:chOff x="0" y="0"/>
            <a:chExt cx="4560570" cy="16371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C7B0411-4169-C1EE-FB9C-82A2F0E7FBF0}"/>
                </a:ext>
              </a:extLst>
            </p:cNvPr>
            <p:cNvSpPr/>
            <p:nvPr/>
          </p:nvSpPr>
          <p:spPr>
            <a:xfrm>
              <a:off x="0" y="0"/>
              <a:ext cx="4560570" cy="1637157"/>
            </a:xfrm>
            <a:custGeom>
              <a:avLst/>
              <a:gdLst/>
              <a:ahLst/>
              <a:cxnLst/>
              <a:rect l="l" t="t" r="r" b="b"/>
              <a:pathLst>
                <a:path w="4560570" h="1637157">
                  <a:moveTo>
                    <a:pt x="0" y="0"/>
                  </a:moveTo>
                  <a:lnTo>
                    <a:pt x="4560570" y="0"/>
                  </a:lnTo>
                  <a:lnTo>
                    <a:pt x="4560570" y="1637157"/>
                  </a:lnTo>
                  <a:lnTo>
                    <a:pt x="0" y="163715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F12A528-A8C4-429B-3744-F94968BAE3E3}"/>
              </a:ext>
            </a:extLst>
          </p:cNvPr>
          <p:cNvGrpSpPr/>
          <p:nvPr/>
        </p:nvGrpSpPr>
        <p:grpSpPr>
          <a:xfrm>
            <a:off x="2893880" y="2055950"/>
            <a:ext cx="1057656" cy="1057656"/>
            <a:chOff x="-260601" y="24617"/>
            <a:chExt cx="1410208" cy="141020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23872EF-7C29-B50A-F884-E4C5687D2654}"/>
                </a:ext>
              </a:extLst>
            </p:cNvPr>
            <p:cNvSpPr/>
            <p:nvPr/>
          </p:nvSpPr>
          <p:spPr>
            <a:xfrm>
              <a:off x="-260601" y="24617"/>
              <a:ext cx="1410208" cy="1410208"/>
            </a:xfrm>
            <a:custGeom>
              <a:avLst/>
              <a:gdLst/>
              <a:ahLst/>
              <a:cxnLst/>
              <a:rect l="l" t="t" r="r" b="b"/>
              <a:pathLst>
                <a:path w="1410208" h="1410208">
                  <a:moveTo>
                    <a:pt x="0" y="705104"/>
                  </a:moveTo>
                  <a:cubicBezTo>
                    <a:pt x="0" y="315722"/>
                    <a:pt x="315722" y="0"/>
                    <a:pt x="705104" y="0"/>
                  </a:cubicBezTo>
                  <a:cubicBezTo>
                    <a:pt x="1094486" y="0"/>
                    <a:pt x="1410208" y="315722"/>
                    <a:pt x="1410208" y="705104"/>
                  </a:cubicBezTo>
                  <a:cubicBezTo>
                    <a:pt x="1410208" y="1094486"/>
                    <a:pt x="1094486" y="1410208"/>
                    <a:pt x="705104" y="1410208"/>
                  </a:cubicBezTo>
                  <a:cubicBezTo>
                    <a:pt x="315722" y="1410208"/>
                    <a:pt x="0" y="1094613"/>
                    <a:pt x="0" y="70510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34A6637-E54F-6C87-68B1-EDFC5D12DF41}"/>
              </a:ext>
            </a:extLst>
          </p:cNvPr>
          <p:cNvGrpSpPr/>
          <p:nvPr/>
        </p:nvGrpSpPr>
        <p:grpSpPr>
          <a:xfrm>
            <a:off x="2943797" y="2089477"/>
            <a:ext cx="990599" cy="990601"/>
            <a:chOff x="1721956" y="29801"/>
            <a:chExt cx="1320799" cy="132080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78BE5CF-F88A-7634-CFE7-D2EE4811F26A}"/>
                </a:ext>
              </a:extLst>
            </p:cNvPr>
            <p:cNvSpPr/>
            <p:nvPr/>
          </p:nvSpPr>
          <p:spPr>
            <a:xfrm>
              <a:off x="1721956" y="29801"/>
              <a:ext cx="1320799" cy="1320801"/>
            </a:xfrm>
            <a:custGeom>
              <a:avLst/>
              <a:gdLst/>
              <a:ahLst/>
              <a:cxnLst/>
              <a:rect l="l" t="t" r="r" b="b"/>
              <a:pathLst>
                <a:path w="1320800" h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017"/>
                    <a:pt x="0" y="660400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2E1EB9A-E9A5-53F8-8909-AFEDCCA68B18}"/>
              </a:ext>
            </a:extLst>
          </p:cNvPr>
          <p:cNvGrpSpPr/>
          <p:nvPr/>
        </p:nvGrpSpPr>
        <p:grpSpPr>
          <a:xfrm>
            <a:off x="4788660" y="5143500"/>
            <a:ext cx="3420428" cy="1227868"/>
            <a:chOff x="1460978" y="-17191"/>
            <a:chExt cx="4560570" cy="1637157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392493-0B5E-B6F6-5C21-D808397369AF}"/>
                </a:ext>
              </a:extLst>
            </p:cNvPr>
            <p:cNvSpPr/>
            <p:nvPr/>
          </p:nvSpPr>
          <p:spPr>
            <a:xfrm>
              <a:off x="1460978" y="-17191"/>
              <a:ext cx="4560570" cy="1637157"/>
            </a:xfrm>
            <a:custGeom>
              <a:avLst/>
              <a:gdLst/>
              <a:ahLst/>
              <a:cxnLst/>
              <a:rect l="l" t="t" r="r" b="b"/>
              <a:pathLst>
                <a:path w="4560570" h="1637157">
                  <a:moveTo>
                    <a:pt x="0" y="0"/>
                  </a:moveTo>
                  <a:lnTo>
                    <a:pt x="4560570" y="0"/>
                  </a:lnTo>
                  <a:lnTo>
                    <a:pt x="4560570" y="1637157"/>
                  </a:lnTo>
                  <a:lnTo>
                    <a:pt x="0" y="163715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3388DB0-1A63-0716-6BBF-3E2D44AE719D}"/>
              </a:ext>
            </a:extLst>
          </p:cNvPr>
          <p:cNvGrpSpPr/>
          <p:nvPr/>
        </p:nvGrpSpPr>
        <p:grpSpPr>
          <a:xfrm>
            <a:off x="7719596" y="5207943"/>
            <a:ext cx="1057683" cy="1057683"/>
            <a:chOff x="0" y="0"/>
            <a:chExt cx="1410244" cy="1410244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5C914C6-0ADB-47F2-213B-CDDE2E49290E}"/>
                </a:ext>
              </a:extLst>
            </p:cNvPr>
            <p:cNvSpPr/>
            <p:nvPr/>
          </p:nvSpPr>
          <p:spPr>
            <a:xfrm>
              <a:off x="0" y="0"/>
              <a:ext cx="1410208" cy="1410208"/>
            </a:xfrm>
            <a:custGeom>
              <a:avLst/>
              <a:gdLst/>
              <a:ahLst/>
              <a:cxnLst/>
              <a:rect l="l" t="t" r="r" b="b"/>
              <a:pathLst>
                <a:path w="1410208" h="1410208">
                  <a:moveTo>
                    <a:pt x="0" y="705104"/>
                  </a:moveTo>
                  <a:cubicBezTo>
                    <a:pt x="0" y="315722"/>
                    <a:pt x="315722" y="0"/>
                    <a:pt x="705104" y="0"/>
                  </a:cubicBezTo>
                  <a:cubicBezTo>
                    <a:pt x="1094486" y="0"/>
                    <a:pt x="1410208" y="315722"/>
                    <a:pt x="1410208" y="705104"/>
                  </a:cubicBezTo>
                  <a:cubicBezTo>
                    <a:pt x="1410208" y="1094486"/>
                    <a:pt x="1094486" y="1410208"/>
                    <a:pt x="705104" y="1410208"/>
                  </a:cubicBezTo>
                  <a:cubicBezTo>
                    <a:pt x="315722" y="1410208"/>
                    <a:pt x="0" y="1094613"/>
                    <a:pt x="0" y="70510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D4D3515-C8B7-A11A-431A-35425F070C1D}"/>
              </a:ext>
            </a:extLst>
          </p:cNvPr>
          <p:cNvGrpSpPr/>
          <p:nvPr/>
        </p:nvGrpSpPr>
        <p:grpSpPr>
          <a:xfrm>
            <a:off x="7766085" y="5272122"/>
            <a:ext cx="990517" cy="990518"/>
            <a:chOff x="0" y="0"/>
            <a:chExt cx="1320690" cy="132069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523EC5B-717C-8F7D-A50B-B1912CC7E9F7}"/>
                </a:ext>
              </a:extLst>
            </p:cNvPr>
            <p:cNvSpPr/>
            <p:nvPr/>
          </p:nvSpPr>
          <p:spPr>
            <a:xfrm>
              <a:off x="0" y="0"/>
              <a:ext cx="1320800" cy="1320800"/>
            </a:xfrm>
            <a:custGeom>
              <a:avLst/>
              <a:gdLst/>
              <a:ahLst/>
              <a:cxnLst/>
              <a:rect l="l" t="t" r="r" b="b"/>
              <a:pathLst>
                <a:path w="1320800" h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017"/>
                    <a:pt x="0" y="660400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37E96BB-5372-3D8D-8686-6F72B3D88A5C}"/>
              </a:ext>
            </a:extLst>
          </p:cNvPr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F9E96E3-AFDE-4803-090E-1DE37ED86A2C}"/>
                </a:ext>
              </a:extLst>
            </p:cNvPr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749CF901-0BD1-8204-2C7E-428BF09D3D4A}"/>
              </a:ext>
            </a:extLst>
          </p:cNvPr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F622212-909D-2AAA-A6B5-539551963ACC}"/>
                </a:ext>
              </a:extLst>
            </p:cNvPr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1E6E31D2-117F-BAB5-3C5F-028CD9695B40}"/>
              </a:ext>
            </a:extLst>
          </p:cNvPr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20A47B71-3931-B953-CC6D-A48E3F6DEFDF}"/>
                </a:ext>
              </a:extLst>
            </p:cNvPr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BA1736F5-52FB-00EA-1FF8-30000E9221D2}"/>
              </a:ext>
            </a:extLst>
          </p:cNvPr>
          <p:cNvSpPr/>
          <p:nvPr/>
        </p:nvSpPr>
        <p:spPr>
          <a:xfrm>
            <a:off x="8017066" y="5501470"/>
            <a:ext cx="476103" cy="484920"/>
          </a:xfrm>
          <a:custGeom>
            <a:avLst/>
            <a:gdLst/>
            <a:ahLst/>
            <a:cxnLst/>
            <a:rect l="l" t="t" r="r" b="b"/>
            <a:pathLst>
              <a:path w="476103" h="484920">
                <a:moveTo>
                  <a:pt x="0" y="0"/>
                </a:moveTo>
                <a:lnTo>
                  <a:pt x="476104" y="0"/>
                </a:lnTo>
                <a:lnTo>
                  <a:pt x="476104" y="484920"/>
                </a:lnTo>
                <a:lnTo>
                  <a:pt x="0" y="484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3FA2CEA-A287-A505-8EA3-228C67E5BC3E}"/>
              </a:ext>
            </a:extLst>
          </p:cNvPr>
          <p:cNvSpPr/>
          <p:nvPr/>
        </p:nvSpPr>
        <p:spPr>
          <a:xfrm>
            <a:off x="3106306" y="2356177"/>
            <a:ext cx="632803" cy="457200"/>
          </a:xfrm>
          <a:custGeom>
            <a:avLst/>
            <a:gdLst/>
            <a:ahLst/>
            <a:cxnLst/>
            <a:rect l="l" t="t" r="r" b="b"/>
            <a:pathLst>
              <a:path w="632803" h="457200">
                <a:moveTo>
                  <a:pt x="0" y="0"/>
                </a:moveTo>
                <a:lnTo>
                  <a:pt x="632802" y="0"/>
                </a:lnTo>
                <a:lnTo>
                  <a:pt x="632802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0E6870E-1CE8-2754-01F9-74900367BD5E}"/>
              </a:ext>
            </a:extLst>
          </p:cNvPr>
          <p:cNvSpPr txBox="1"/>
          <p:nvPr/>
        </p:nvSpPr>
        <p:spPr>
          <a:xfrm>
            <a:off x="250392" y="2356177"/>
            <a:ext cx="251604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就业市场洞察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77B0EAB-10D7-55C2-C739-1D80BF49CA45}"/>
              </a:ext>
            </a:extLst>
          </p:cNvPr>
          <p:cNvSpPr txBox="1"/>
          <p:nvPr/>
        </p:nvSpPr>
        <p:spPr>
          <a:xfrm>
            <a:off x="350755" y="3465412"/>
            <a:ext cx="6805612" cy="1625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快速了解当前就业市场对于应届生招聘岗位的能力要求，并可以清晰掌握和拆解不同岗位的具体能力要求。能够展示不同岗位的能力要求随时间的变化趋势</a:t>
            </a:r>
            <a:r>
              <a:rPr lang="zh-CN" altLang="en-US" sz="20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。</a:t>
            </a:r>
            <a:endParaRPr lang="en-US" sz="2000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50BBEE1-2BD9-9AE2-1B69-04458521BEF5}"/>
              </a:ext>
            </a:extLst>
          </p:cNvPr>
          <p:cNvSpPr txBox="1"/>
          <p:nvPr/>
        </p:nvSpPr>
        <p:spPr>
          <a:xfrm>
            <a:off x="5417594" y="5560150"/>
            <a:ext cx="186785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自我认知</a:t>
            </a:r>
            <a:endParaRPr lang="en-US" sz="3000" dirty="0">
              <a:solidFill>
                <a:srgbClr val="FFFFFF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3FD2A32-DD36-99B1-CFA3-3EB73A127004}"/>
              </a:ext>
            </a:extLst>
          </p:cNvPr>
          <p:cNvSpPr txBox="1"/>
          <p:nvPr/>
        </p:nvSpPr>
        <p:spPr>
          <a:xfrm>
            <a:off x="5946927" y="7001026"/>
            <a:ext cx="6805612" cy="1625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清晰准确分析自身的就业能力、就业意愿。智能分析用户的“就业意愿”（我想做什么，我的职业兴趣）与“就业能力”（我能做什么，我的技能水平）之间的匹配度</a:t>
            </a:r>
            <a:endParaRPr lang="en-US" sz="2400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803CB18-A0C8-C95F-5753-9CE897C2C211}"/>
              </a:ext>
            </a:extLst>
          </p:cNvPr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核心目标</a:t>
            </a:r>
            <a:endParaRPr lang="en-US" sz="42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3F8BB73-0B13-F3F2-14EE-CA8B86242264}"/>
              </a:ext>
            </a:extLst>
          </p:cNvPr>
          <p:cNvSpPr txBox="1"/>
          <p:nvPr/>
        </p:nvSpPr>
        <p:spPr>
          <a:xfrm>
            <a:off x="7205648" y="1227410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Summary of work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CD3AE15-B2B9-844C-E9D7-3B1E7B1D1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9508" y="2031461"/>
            <a:ext cx="3420152" cy="122540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12608411-AC84-BFA0-FA0A-E592EC792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69660" y="2147294"/>
            <a:ext cx="944346" cy="99373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0D646FF1-8803-D347-77DF-CFC26E4B76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59584" y="4473153"/>
            <a:ext cx="1060796" cy="105469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59009BD1-6291-4490-BD7B-1115017FC9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5737" y="2437804"/>
            <a:ext cx="627942" cy="45724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97FFC4C0-752E-DBCA-9180-A2D40E7435F6}"/>
              </a:ext>
            </a:extLst>
          </p:cNvPr>
          <p:cNvSpPr txBox="1"/>
          <p:nvPr/>
        </p:nvSpPr>
        <p:spPr>
          <a:xfrm>
            <a:off x="13740452" y="2382551"/>
            <a:ext cx="2505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职业生涯规划</a:t>
            </a:r>
          </a:p>
        </p:txBody>
      </p:sp>
      <p:sp>
        <p:nvSpPr>
          <p:cNvPr id="46" name="TextBox 33">
            <a:extLst>
              <a:ext uri="{FF2B5EF4-FFF2-40B4-BE49-F238E27FC236}">
                <a16:creationId xmlns:a16="http://schemas.microsoft.com/office/drawing/2014/main" id="{8F0B055F-1A47-1F77-7F89-1CC8D6309D5F}"/>
              </a:ext>
            </a:extLst>
          </p:cNvPr>
          <p:cNvSpPr txBox="1"/>
          <p:nvPr/>
        </p:nvSpPr>
        <p:spPr>
          <a:xfrm>
            <a:off x="10808394" y="3787167"/>
            <a:ext cx="6805612" cy="1625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zh-CN" altLang="zh-CN" sz="24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</a:rPr>
              <a:t>能够给出明确可操作的职业生涯发展报告，包括就业职业规划方案和行动计划，扬长避短、精准匹配。针对用户的优势，推荐高价值赛道；针对短板，提供最低成本的弥补方案。</a:t>
            </a:r>
            <a:endParaRPr lang="en-US" sz="2400" dirty="0">
              <a:solidFill>
                <a:srgbClr val="000000"/>
              </a:solidFill>
              <a:latin typeface="阿里巴巴普惠体"/>
              <a:ea typeface="阿里巴巴普惠体"/>
              <a:cs typeface="阿里巴巴普惠体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138319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98AB-928A-9D66-0C13-21DB0575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4FD795A-16EB-41E4-97A0-DB82FD5485FB}"/>
              </a:ext>
            </a:extLst>
          </p:cNvPr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05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002CA88-C452-1B98-F730-35EF6B42695C}"/>
              </a:ext>
            </a:extLst>
          </p:cNvPr>
          <p:cNvSpPr txBox="1"/>
          <p:nvPr/>
        </p:nvSpPr>
        <p:spPr>
          <a:xfrm>
            <a:off x="6306234" y="5222736"/>
            <a:ext cx="6571122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zh-CN" altLang="en-US" sz="54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技术路线及功能亮点</a:t>
            </a:r>
            <a:endParaRPr lang="en-US" sz="54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DFA90D-710E-BA9B-7ECD-1A1642EA53FC}"/>
              </a:ext>
            </a:extLst>
          </p:cNvPr>
          <p:cNvSpPr txBox="1"/>
          <p:nvPr/>
        </p:nvSpPr>
        <p:spPr>
          <a:xfrm>
            <a:off x="6359010" y="6125801"/>
            <a:ext cx="6465570" cy="423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2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Technical route and highlights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D38C4E6-9B14-C4C8-8C5F-F5F9BAE02226}"/>
              </a:ext>
            </a:extLst>
          </p:cNvPr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F82EB9-3B96-855A-D120-D778164AB942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C65C572-F127-8643-B77E-45FE236C7AB7}"/>
              </a:ext>
            </a:extLst>
          </p:cNvPr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C6DAE17-884A-2523-1D8B-6F3CA4123CFF}"/>
                </a:ext>
              </a:extLst>
            </p:cNvPr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DFB524-6981-C714-35E3-E62A945EFDCA}"/>
              </a:ext>
            </a:extLst>
          </p:cNvPr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A81BC6C-32C9-3D2B-6576-00197D53413D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C1FD89A-DAF0-6D94-3F78-C5F395E53B55}"/>
              </a:ext>
            </a:extLst>
          </p:cNvPr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8361C37-AA88-2767-B3F9-77D9E74DFC95}"/>
                </a:ext>
              </a:extLst>
            </p:cNvPr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3002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890B-C017-3258-AC03-60FA3C6F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C535C7-E30D-63DF-AA35-885CFD8BBC2B}"/>
              </a:ext>
            </a:extLst>
          </p:cNvPr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06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2336F0-AE92-8762-A250-27DF472173C9}"/>
              </a:ext>
            </a:extLst>
          </p:cNvPr>
          <p:cNvSpPr txBox="1"/>
          <p:nvPr/>
        </p:nvSpPr>
        <p:spPr>
          <a:xfrm>
            <a:off x="6306234" y="5222736"/>
            <a:ext cx="6571122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zh-CN" altLang="en-US" sz="54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系统演示</a:t>
            </a:r>
            <a:endParaRPr lang="en-US" sz="54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7AD7C1-94B3-3A35-1D8B-B3A3BECA593B}"/>
              </a:ext>
            </a:extLst>
          </p:cNvPr>
          <p:cNvSpPr txBox="1"/>
          <p:nvPr/>
        </p:nvSpPr>
        <p:spPr>
          <a:xfrm>
            <a:off x="8105397" y="6042586"/>
            <a:ext cx="3142277" cy="423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2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System    Demo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BA80D14-8D56-B071-CD5F-BA980CF0885B}"/>
              </a:ext>
            </a:extLst>
          </p:cNvPr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D4B7FD-2E69-FF69-A968-388A4CB430B3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6C60DED-9CFA-5C07-DA66-B0B5498C53DC}"/>
              </a:ext>
            </a:extLst>
          </p:cNvPr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0F8421D-2BCD-F875-8CA2-643235D5D8A5}"/>
                </a:ext>
              </a:extLst>
            </p:cNvPr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B5F281B-1210-9208-BDCA-4D2F20E6065F}"/>
              </a:ext>
            </a:extLst>
          </p:cNvPr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675ABEB-F34B-E587-2842-6B1DF7A5F98F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D0990B6-1AC7-069C-3F3F-50CD4FA360DE}"/>
              </a:ext>
            </a:extLst>
          </p:cNvPr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39D2165-4878-4019-5E0C-DF705DA165FA}"/>
                </a:ext>
              </a:extLst>
            </p:cNvPr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7042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F589-0F07-1CD4-52A0-D659211E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A7A0060-DCF7-00CD-B7EC-F1C5DAF3986D}"/>
              </a:ext>
            </a:extLst>
          </p:cNvPr>
          <p:cNvSpPr txBox="1"/>
          <p:nvPr/>
        </p:nvSpPr>
        <p:spPr>
          <a:xfrm>
            <a:off x="5238943" y="2925211"/>
            <a:ext cx="8705705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9"/>
              </a:lnSpc>
            </a:pPr>
            <a:r>
              <a:rPr lang="en-US" sz="13207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PART 07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47617FE-ABD5-C1CA-5225-3D3C67D17E37}"/>
              </a:ext>
            </a:extLst>
          </p:cNvPr>
          <p:cNvSpPr txBox="1"/>
          <p:nvPr/>
        </p:nvSpPr>
        <p:spPr>
          <a:xfrm>
            <a:off x="6306234" y="5222736"/>
            <a:ext cx="6571122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zh-CN" altLang="en-US" sz="5400" dirty="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项目优势</a:t>
            </a:r>
            <a:endParaRPr lang="en-US" sz="5400" dirty="0">
              <a:solidFill>
                <a:srgbClr val="113AA6"/>
              </a:solidFill>
              <a:latin typeface="字由点字倔强黑"/>
              <a:ea typeface="字由点字倔强黑"/>
              <a:cs typeface="字由点字倔强黑"/>
              <a:sym typeface="字由点字倔强黑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D6D27C9-D7F5-84FE-6024-14B8652FE5CC}"/>
              </a:ext>
            </a:extLst>
          </p:cNvPr>
          <p:cNvSpPr txBox="1"/>
          <p:nvPr/>
        </p:nvSpPr>
        <p:spPr>
          <a:xfrm>
            <a:off x="7419879" y="6042586"/>
            <a:ext cx="4080390" cy="423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200" dirty="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Project    Advantage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11B271C-2DB1-CAA6-3573-55EA05F89CA3}"/>
              </a:ext>
            </a:extLst>
          </p:cNvPr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D47694A-EB53-2E9F-357F-5913BE5C47B7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BE9A079-2A4C-3AAF-51BE-E389C8A24002}"/>
              </a:ext>
            </a:extLst>
          </p:cNvPr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21F71F0-AC33-3BE7-49CF-D64DB3F0D291}"/>
                </a:ext>
              </a:extLst>
            </p:cNvPr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DEE3850-FBB3-CA3A-E99D-849886FDD3AF}"/>
              </a:ext>
            </a:extLst>
          </p:cNvPr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7F9D2D2-F2B3-9D68-4185-4162F55BA844}"/>
                </a:ext>
              </a:extLst>
            </p:cNvPr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DF70745-3154-7F7C-186A-647CBB3752E4}"/>
              </a:ext>
            </a:extLst>
          </p:cNvPr>
          <p:cNvGrpSpPr/>
          <p:nvPr/>
        </p:nvGrpSpPr>
        <p:grpSpPr>
          <a:xfrm rot="-9000000">
            <a:off x="774517" y="4387960"/>
            <a:ext cx="1943148" cy="2866262"/>
            <a:chOff x="0" y="0"/>
            <a:chExt cx="2590864" cy="382168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11EE8E6-2E28-96C9-B1F7-F4C0B3F05996}"/>
                </a:ext>
              </a:extLst>
            </p:cNvPr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935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市场数据分析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Market data analysis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13" name="Freeform 13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15" name="Freeform 15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17" name="Freeform 17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0" y="3008403"/>
            <a:ext cx="8101012" cy="3849597"/>
            <a:chOff x="0" y="0"/>
            <a:chExt cx="10801350" cy="51327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801350" cy="5132832"/>
            </a:xfrm>
            <a:custGeom>
              <a:avLst/>
              <a:gdLst/>
              <a:ahLst/>
              <a:cxnLst/>
              <a:rect l="l" t="t" r="r" b="b"/>
              <a:pathLst>
                <a:path w="10801350" h="5132832">
                  <a:moveTo>
                    <a:pt x="0" y="0"/>
                  </a:moveTo>
                  <a:lnTo>
                    <a:pt x="10801350" y="0"/>
                  </a:lnTo>
                  <a:lnTo>
                    <a:pt x="10801350" y="5132832"/>
                  </a:lnTo>
                  <a:lnTo>
                    <a:pt x="0" y="5132832"/>
                  </a:lnTo>
                  <a:close/>
                </a:path>
              </a:pathLst>
            </a:custGeom>
            <a:blipFill>
              <a:blip r:embed="rId2"/>
              <a:stretch>
                <a:fillRect t="-15498" b="-15498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7120890"/>
            <a:ext cx="8101012" cy="1779270"/>
            <a:chOff x="0" y="0"/>
            <a:chExt cx="10801350" cy="2372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801350" cy="2372360"/>
            </a:xfrm>
            <a:custGeom>
              <a:avLst/>
              <a:gdLst/>
              <a:ahLst/>
              <a:cxnLst/>
              <a:rect l="l" t="t" r="r" b="b"/>
              <a:pathLst>
                <a:path w="10801350" h="2372360">
                  <a:moveTo>
                    <a:pt x="0" y="0"/>
                  </a:moveTo>
                  <a:lnTo>
                    <a:pt x="10801350" y="0"/>
                  </a:lnTo>
                  <a:lnTo>
                    <a:pt x="10801350" y="2372360"/>
                  </a:lnTo>
                  <a:lnTo>
                    <a:pt x="0" y="237236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735501" y="7324725"/>
            <a:ext cx="691800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90%-100%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663272"/>
            <a:ext cx="339059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营业额完成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百分比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620326"/>
            <a:ext cx="6980872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演示文稿是一种实用的工具，可以是演示，演讲，报告等。大部分时间，它们都是在为观众服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315CBE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315CBE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341167" y="3474959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去年销售数据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1167" y="3970348"/>
            <a:ext cx="7918132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演示文稿是一种实用的工具，可以是演示，演讲，报告等。大部分时间，它们都是在为观众服务。它们有多种用途，是演讲和教学的有力工具。演示文稿是一种实用的工具，可以是演示，演讲，报告等。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41167" y="6722825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今年销售数据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41167" y="7218214"/>
            <a:ext cx="7918132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演示文稿是一种实用的工具，可以是演示，演讲，报告等。大部分时间，它们都是在为观众服务。它们有多种用途，是演讲和教学的有力工具。演示文稿是一种实用的工具，可以是演示，演讲，报告等。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3" y="2221066"/>
            <a:ext cx="9448038" cy="746643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市场数据分析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Market data analysis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2988" y="3008403"/>
            <a:ext cx="4854892" cy="3438117"/>
            <a:chOff x="0" y="0"/>
            <a:chExt cx="6473190" cy="45841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73190" cy="4584192"/>
            </a:xfrm>
            <a:custGeom>
              <a:avLst/>
              <a:gdLst/>
              <a:ahLst/>
              <a:cxnLst/>
              <a:rect l="l" t="t" r="r" b="b"/>
              <a:pathLst>
                <a:path w="6473190" h="4584192">
                  <a:moveTo>
                    <a:pt x="0" y="0"/>
                  </a:moveTo>
                  <a:lnTo>
                    <a:pt x="6473190" y="0"/>
                  </a:lnTo>
                  <a:lnTo>
                    <a:pt x="6473190" y="4584192"/>
                  </a:lnTo>
                  <a:lnTo>
                    <a:pt x="0" y="4584192"/>
                  </a:lnTo>
                  <a:close/>
                </a:path>
              </a:pathLst>
            </a:custGeom>
            <a:blipFill>
              <a:blip r:embed="rId2"/>
              <a:stretch>
                <a:fillRect l="-3047" r="-3047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2988" y="7162710"/>
            <a:ext cx="600165" cy="600165"/>
            <a:chOff x="0" y="0"/>
            <a:chExt cx="800220" cy="8002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0227" cy="800227"/>
            </a:xfrm>
            <a:custGeom>
              <a:avLst/>
              <a:gdLst/>
              <a:ahLst/>
              <a:cxnLst/>
              <a:rect l="l" t="t" r="r" b="b"/>
              <a:pathLst>
                <a:path w="800227" h="800227">
                  <a:moveTo>
                    <a:pt x="0" y="0"/>
                  </a:moveTo>
                  <a:lnTo>
                    <a:pt x="800227" y="0"/>
                  </a:lnTo>
                  <a:lnTo>
                    <a:pt x="800227" y="800227"/>
                  </a:lnTo>
                  <a:lnTo>
                    <a:pt x="0" y="80022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4258" y="7198905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成功案例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4258" y="7694295"/>
            <a:ext cx="3773622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716553" y="3008403"/>
            <a:ext cx="4854892" cy="3438117"/>
            <a:chOff x="0" y="0"/>
            <a:chExt cx="6473190" cy="45841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73190" cy="4584192"/>
            </a:xfrm>
            <a:custGeom>
              <a:avLst/>
              <a:gdLst/>
              <a:ahLst/>
              <a:cxnLst/>
              <a:rect l="l" t="t" r="r" b="b"/>
              <a:pathLst>
                <a:path w="6473190" h="4584192">
                  <a:moveTo>
                    <a:pt x="0" y="0"/>
                  </a:moveTo>
                  <a:lnTo>
                    <a:pt x="6473190" y="0"/>
                  </a:lnTo>
                  <a:lnTo>
                    <a:pt x="6473190" y="4584192"/>
                  </a:lnTo>
                  <a:lnTo>
                    <a:pt x="0" y="4584192"/>
                  </a:lnTo>
                  <a:close/>
                </a:path>
              </a:pathLst>
            </a:custGeom>
            <a:blipFill>
              <a:blip r:embed="rId3"/>
              <a:stretch>
                <a:fillRect l="-7342" r="-7342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16553" y="7162710"/>
            <a:ext cx="600165" cy="600165"/>
            <a:chOff x="0" y="0"/>
            <a:chExt cx="800220" cy="8002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00227" cy="800227"/>
            </a:xfrm>
            <a:custGeom>
              <a:avLst/>
              <a:gdLst/>
              <a:ahLst/>
              <a:cxnLst/>
              <a:rect l="l" t="t" r="r" b="b"/>
              <a:pathLst>
                <a:path w="800227" h="800227">
                  <a:moveTo>
                    <a:pt x="0" y="0"/>
                  </a:moveTo>
                  <a:lnTo>
                    <a:pt x="800227" y="0"/>
                  </a:lnTo>
                  <a:lnTo>
                    <a:pt x="800227" y="800227"/>
                  </a:lnTo>
                  <a:lnTo>
                    <a:pt x="0" y="80022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797823" y="7198905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完成项目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97823" y="7694295"/>
            <a:ext cx="3773622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390120" y="3008403"/>
            <a:ext cx="4854892" cy="3438117"/>
            <a:chOff x="0" y="0"/>
            <a:chExt cx="6473190" cy="45841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73190" cy="4584192"/>
            </a:xfrm>
            <a:custGeom>
              <a:avLst/>
              <a:gdLst/>
              <a:ahLst/>
              <a:cxnLst/>
              <a:rect l="l" t="t" r="r" b="b"/>
              <a:pathLst>
                <a:path w="6473190" h="4584192">
                  <a:moveTo>
                    <a:pt x="0" y="0"/>
                  </a:moveTo>
                  <a:lnTo>
                    <a:pt x="6473190" y="0"/>
                  </a:lnTo>
                  <a:lnTo>
                    <a:pt x="6473190" y="4584192"/>
                  </a:lnTo>
                  <a:lnTo>
                    <a:pt x="0" y="4584192"/>
                  </a:lnTo>
                  <a:close/>
                </a:path>
              </a:pathLst>
            </a:custGeom>
            <a:blipFill>
              <a:blip r:embed="rId4"/>
              <a:stretch>
                <a:fillRect l="-3047" r="-3047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90120" y="7162710"/>
            <a:ext cx="600165" cy="600165"/>
            <a:chOff x="0" y="0"/>
            <a:chExt cx="800220" cy="8002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00227" cy="800227"/>
            </a:xfrm>
            <a:custGeom>
              <a:avLst/>
              <a:gdLst/>
              <a:ahLst/>
              <a:cxnLst/>
              <a:rect l="l" t="t" r="r" b="b"/>
              <a:pathLst>
                <a:path w="800227" h="800227">
                  <a:moveTo>
                    <a:pt x="0" y="0"/>
                  </a:moveTo>
                  <a:lnTo>
                    <a:pt x="800227" y="0"/>
                  </a:lnTo>
                  <a:lnTo>
                    <a:pt x="800227" y="800227"/>
                  </a:lnTo>
                  <a:lnTo>
                    <a:pt x="0" y="80022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485678" y="7198905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业务亮点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85678" y="7694295"/>
            <a:ext cx="3773622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市场数据分析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Market data analysis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6" y="6416875"/>
            <a:ext cx="1336232" cy="1336231"/>
            <a:chOff x="0" y="0"/>
            <a:chExt cx="1781642" cy="17816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1556" cy="1781556"/>
            </a:xfrm>
            <a:custGeom>
              <a:avLst/>
              <a:gdLst/>
              <a:ahLst/>
              <a:cxnLst/>
              <a:rect l="l" t="t" r="r" b="b"/>
              <a:pathLst>
                <a:path w="1781556" h="1781556">
                  <a:moveTo>
                    <a:pt x="0" y="890778"/>
                  </a:moveTo>
                  <a:cubicBezTo>
                    <a:pt x="0" y="398780"/>
                    <a:pt x="398780" y="0"/>
                    <a:pt x="890778" y="0"/>
                  </a:cubicBezTo>
                  <a:cubicBezTo>
                    <a:pt x="1382776" y="0"/>
                    <a:pt x="1781556" y="398780"/>
                    <a:pt x="1781556" y="890778"/>
                  </a:cubicBezTo>
                  <a:cubicBezTo>
                    <a:pt x="1781556" y="1382776"/>
                    <a:pt x="1382776" y="1781556"/>
                    <a:pt x="890778" y="1781556"/>
                  </a:cubicBezTo>
                  <a:cubicBezTo>
                    <a:pt x="398780" y="1781556"/>
                    <a:pt x="0" y="1382776"/>
                    <a:pt x="0" y="890778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711766" y="6416875"/>
            <a:ext cx="1336231" cy="1336231"/>
            <a:chOff x="0" y="0"/>
            <a:chExt cx="1781642" cy="17816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81556" cy="1781556"/>
            </a:xfrm>
            <a:custGeom>
              <a:avLst/>
              <a:gdLst/>
              <a:ahLst/>
              <a:cxnLst/>
              <a:rect l="l" t="t" r="r" b="b"/>
              <a:pathLst>
                <a:path w="1781556" h="1781556">
                  <a:moveTo>
                    <a:pt x="0" y="890778"/>
                  </a:moveTo>
                  <a:cubicBezTo>
                    <a:pt x="0" y="398780"/>
                    <a:pt x="398780" y="0"/>
                    <a:pt x="890778" y="0"/>
                  </a:cubicBezTo>
                  <a:cubicBezTo>
                    <a:pt x="1382776" y="0"/>
                    <a:pt x="1781556" y="398780"/>
                    <a:pt x="1781556" y="890778"/>
                  </a:cubicBezTo>
                  <a:cubicBezTo>
                    <a:pt x="1781556" y="1382776"/>
                    <a:pt x="1382776" y="1781556"/>
                    <a:pt x="890778" y="1781556"/>
                  </a:cubicBezTo>
                  <a:cubicBezTo>
                    <a:pt x="398780" y="1781556"/>
                    <a:pt x="0" y="1382776"/>
                    <a:pt x="0" y="890778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80546" y="6416875"/>
            <a:ext cx="1336232" cy="1336231"/>
            <a:chOff x="0" y="0"/>
            <a:chExt cx="1781642" cy="17816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1556" cy="1781556"/>
            </a:xfrm>
            <a:custGeom>
              <a:avLst/>
              <a:gdLst/>
              <a:ahLst/>
              <a:cxnLst/>
              <a:rect l="l" t="t" r="r" b="b"/>
              <a:pathLst>
                <a:path w="1781556" h="1781556">
                  <a:moveTo>
                    <a:pt x="0" y="890778"/>
                  </a:moveTo>
                  <a:cubicBezTo>
                    <a:pt x="0" y="398780"/>
                    <a:pt x="398780" y="0"/>
                    <a:pt x="890778" y="0"/>
                  </a:cubicBezTo>
                  <a:cubicBezTo>
                    <a:pt x="1382776" y="0"/>
                    <a:pt x="1781556" y="398780"/>
                    <a:pt x="1781556" y="890778"/>
                  </a:cubicBezTo>
                  <a:cubicBezTo>
                    <a:pt x="1781556" y="1382776"/>
                    <a:pt x="1382776" y="1781556"/>
                    <a:pt x="890778" y="1781556"/>
                  </a:cubicBezTo>
                  <a:cubicBezTo>
                    <a:pt x="398780" y="1781556"/>
                    <a:pt x="0" y="1382776"/>
                    <a:pt x="0" y="890778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1414" y="6486524"/>
            <a:ext cx="1196934" cy="1196931"/>
            <a:chOff x="0" y="0"/>
            <a:chExt cx="1595912" cy="1595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5882" cy="1595882"/>
            </a:xfrm>
            <a:custGeom>
              <a:avLst/>
              <a:gdLst/>
              <a:ahLst/>
              <a:cxnLst/>
              <a:rect l="l" t="t" r="r" b="b"/>
              <a:pathLst>
                <a:path w="1595882" h="1595882">
                  <a:moveTo>
                    <a:pt x="0" y="797941"/>
                  </a:moveTo>
                  <a:cubicBezTo>
                    <a:pt x="0" y="357251"/>
                    <a:pt x="357251" y="0"/>
                    <a:pt x="797941" y="0"/>
                  </a:cubicBezTo>
                  <a:cubicBezTo>
                    <a:pt x="1238631" y="0"/>
                    <a:pt x="1595882" y="357251"/>
                    <a:pt x="1595882" y="797941"/>
                  </a:cubicBezTo>
                  <a:cubicBezTo>
                    <a:pt x="1595882" y="1238631"/>
                    <a:pt x="1238631" y="1595882"/>
                    <a:pt x="797941" y="1595882"/>
                  </a:cubicBezTo>
                  <a:cubicBezTo>
                    <a:pt x="357251" y="1595882"/>
                    <a:pt x="0" y="1238631"/>
                    <a:pt x="0" y="79794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4669940" y="6757396"/>
            <a:ext cx="757444" cy="655189"/>
          </a:xfrm>
          <a:custGeom>
            <a:avLst/>
            <a:gdLst/>
            <a:ahLst/>
            <a:cxnLst/>
            <a:rect l="l" t="t" r="r" b="b"/>
            <a:pathLst>
              <a:path w="757444" h="655189">
                <a:moveTo>
                  <a:pt x="0" y="0"/>
                </a:moveTo>
                <a:lnTo>
                  <a:pt x="757444" y="0"/>
                </a:lnTo>
                <a:lnTo>
                  <a:pt x="757444" y="655189"/>
                </a:lnTo>
                <a:lnTo>
                  <a:pt x="0" y="6551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3057648" y="6757396"/>
            <a:ext cx="644467" cy="655189"/>
          </a:xfrm>
          <a:custGeom>
            <a:avLst/>
            <a:gdLst/>
            <a:ahLst/>
            <a:cxnLst/>
            <a:rect l="l" t="t" r="r" b="b"/>
            <a:pathLst>
              <a:path w="644467" h="655189">
                <a:moveTo>
                  <a:pt x="0" y="0"/>
                </a:moveTo>
                <a:lnTo>
                  <a:pt x="644467" y="0"/>
                </a:lnTo>
                <a:lnTo>
                  <a:pt x="644467" y="655189"/>
                </a:lnTo>
                <a:lnTo>
                  <a:pt x="0" y="65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>
            <a:off x="1372065" y="6757396"/>
            <a:ext cx="678074" cy="655189"/>
          </a:xfrm>
          <a:custGeom>
            <a:avLst/>
            <a:gdLst/>
            <a:ahLst/>
            <a:cxnLst/>
            <a:rect l="l" t="t" r="r" b="b"/>
            <a:pathLst>
              <a:path w="678074" h="655189">
                <a:moveTo>
                  <a:pt x="0" y="0"/>
                </a:moveTo>
                <a:lnTo>
                  <a:pt x="678074" y="0"/>
                </a:lnTo>
                <a:lnTo>
                  <a:pt x="678074" y="655189"/>
                </a:lnTo>
                <a:lnTo>
                  <a:pt x="0" y="65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42986" y="4145932"/>
            <a:ext cx="44739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解决方案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986" y="4641322"/>
            <a:ext cx="16216314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您可以在讲座中包含团队照片，产品说明或目标。这一切都取决于您的演示文稿的目的，以及您计划如何安排您的详细信息。演示文稿是一种实用的工具，可以是演示，演讲，报告等。大部分时间，它们都是在为观众服务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工作不足之处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Shortcomings of the work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26" name="Freeform 26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28" name="Freeform 28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30" name="Freeform 30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84564" y="3786116"/>
            <a:ext cx="1953693" cy="1936395"/>
            <a:chOff x="0" y="0"/>
            <a:chExt cx="2604924" cy="2581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4897" cy="2581783"/>
            </a:xfrm>
            <a:custGeom>
              <a:avLst/>
              <a:gdLst/>
              <a:ahLst/>
              <a:cxnLst/>
              <a:rect l="l" t="t" r="r" b="b"/>
              <a:pathLst>
                <a:path w="2604897" h="2581783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2174621" y="0"/>
                  </a:lnTo>
                  <a:cubicBezTo>
                    <a:pt x="2412238" y="0"/>
                    <a:pt x="2604897" y="192659"/>
                    <a:pt x="2604897" y="430276"/>
                  </a:cubicBezTo>
                  <a:lnTo>
                    <a:pt x="2604897" y="2151507"/>
                  </a:lnTo>
                  <a:cubicBezTo>
                    <a:pt x="2604897" y="2389124"/>
                    <a:pt x="2412238" y="2581783"/>
                    <a:pt x="2174621" y="2581783"/>
                  </a:cubicBezTo>
                  <a:lnTo>
                    <a:pt x="430276" y="2581783"/>
                  </a:lnTo>
                  <a:cubicBezTo>
                    <a:pt x="192659" y="2581910"/>
                    <a:pt x="0" y="2389251"/>
                    <a:pt x="0" y="215150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84564" y="6186051"/>
            <a:ext cx="1953693" cy="1936395"/>
            <a:chOff x="0" y="0"/>
            <a:chExt cx="2604924" cy="25818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4897" cy="2581783"/>
            </a:xfrm>
            <a:custGeom>
              <a:avLst/>
              <a:gdLst/>
              <a:ahLst/>
              <a:cxnLst/>
              <a:rect l="l" t="t" r="r" b="b"/>
              <a:pathLst>
                <a:path w="2604897" h="2581783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2174621" y="0"/>
                  </a:lnTo>
                  <a:cubicBezTo>
                    <a:pt x="2412238" y="0"/>
                    <a:pt x="2604897" y="192659"/>
                    <a:pt x="2604897" y="430276"/>
                  </a:cubicBezTo>
                  <a:lnTo>
                    <a:pt x="2604897" y="2151507"/>
                  </a:lnTo>
                  <a:cubicBezTo>
                    <a:pt x="2604897" y="2389124"/>
                    <a:pt x="2412238" y="2581783"/>
                    <a:pt x="2174621" y="2581783"/>
                  </a:cubicBezTo>
                  <a:lnTo>
                    <a:pt x="430276" y="2581783"/>
                  </a:lnTo>
                  <a:cubicBezTo>
                    <a:pt x="192659" y="2581910"/>
                    <a:pt x="0" y="2389251"/>
                    <a:pt x="0" y="215150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49743" y="3786116"/>
            <a:ext cx="1953693" cy="1936395"/>
            <a:chOff x="0" y="0"/>
            <a:chExt cx="2604924" cy="25818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04897" cy="2581783"/>
            </a:xfrm>
            <a:custGeom>
              <a:avLst/>
              <a:gdLst/>
              <a:ahLst/>
              <a:cxnLst/>
              <a:rect l="l" t="t" r="r" b="b"/>
              <a:pathLst>
                <a:path w="2604897" h="2581783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2174621" y="0"/>
                  </a:lnTo>
                  <a:cubicBezTo>
                    <a:pt x="2412238" y="0"/>
                    <a:pt x="2604897" y="192659"/>
                    <a:pt x="2604897" y="430276"/>
                  </a:cubicBezTo>
                  <a:lnTo>
                    <a:pt x="2604897" y="2151507"/>
                  </a:lnTo>
                  <a:cubicBezTo>
                    <a:pt x="2604897" y="2389124"/>
                    <a:pt x="2412238" y="2581783"/>
                    <a:pt x="2174621" y="2581783"/>
                  </a:cubicBezTo>
                  <a:lnTo>
                    <a:pt x="430276" y="2581783"/>
                  </a:lnTo>
                  <a:cubicBezTo>
                    <a:pt x="192659" y="2581910"/>
                    <a:pt x="0" y="2389251"/>
                    <a:pt x="0" y="215150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49743" y="6186051"/>
            <a:ext cx="1953693" cy="1936395"/>
            <a:chOff x="0" y="0"/>
            <a:chExt cx="2604924" cy="25818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4897" cy="2581783"/>
            </a:xfrm>
            <a:custGeom>
              <a:avLst/>
              <a:gdLst/>
              <a:ahLst/>
              <a:cxnLst/>
              <a:rect l="l" t="t" r="r" b="b"/>
              <a:pathLst>
                <a:path w="2604897" h="2581783">
                  <a:moveTo>
                    <a:pt x="0" y="430276"/>
                  </a:moveTo>
                  <a:cubicBezTo>
                    <a:pt x="0" y="192659"/>
                    <a:pt x="192659" y="0"/>
                    <a:pt x="430276" y="0"/>
                  </a:cubicBezTo>
                  <a:lnTo>
                    <a:pt x="2174621" y="0"/>
                  </a:lnTo>
                  <a:cubicBezTo>
                    <a:pt x="2412238" y="0"/>
                    <a:pt x="2604897" y="192659"/>
                    <a:pt x="2604897" y="430276"/>
                  </a:cubicBezTo>
                  <a:lnTo>
                    <a:pt x="2604897" y="2151507"/>
                  </a:lnTo>
                  <a:cubicBezTo>
                    <a:pt x="2604897" y="2389124"/>
                    <a:pt x="2412238" y="2581783"/>
                    <a:pt x="2174621" y="2581783"/>
                  </a:cubicBezTo>
                  <a:lnTo>
                    <a:pt x="430276" y="2581783"/>
                  </a:lnTo>
                  <a:cubicBezTo>
                    <a:pt x="192659" y="2581910"/>
                    <a:pt x="0" y="2389251"/>
                    <a:pt x="0" y="215150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858475" y="6678346"/>
            <a:ext cx="936229" cy="951804"/>
          </a:xfrm>
          <a:custGeom>
            <a:avLst/>
            <a:gdLst/>
            <a:ahLst/>
            <a:cxnLst/>
            <a:rect l="l" t="t" r="r" b="b"/>
            <a:pathLst>
              <a:path w="936229" h="951804">
                <a:moveTo>
                  <a:pt x="0" y="0"/>
                </a:moveTo>
                <a:lnTo>
                  <a:pt x="936229" y="0"/>
                </a:lnTo>
                <a:lnTo>
                  <a:pt x="936229" y="951805"/>
                </a:lnTo>
                <a:lnTo>
                  <a:pt x="0" y="951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9858475" y="4349394"/>
            <a:ext cx="936229" cy="809838"/>
          </a:xfrm>
          <a:custGeom>
            <a:avLst/>
            <a:gdLst/>
            <a:ahLst/>
            <a:cxnLst/>
            <a:rect l="l" t="t" r="r" b="b"/>
            <a:pathLst>
              <a:path w="936229" h="809838">
                <a:moveTo>
                  <a:pt x="0" y="0"/>
                </a:moveTo>
                <a:lnTo>
                  <a:pt x="936229" y="0"/>
                </a:lnTo>
                <a:lnTo>
                  <a:pt x="936229" y="809838"/>
                </a:lnTo>
                <a:lnTo>
                  <a:pt x="0" y="809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>
            <a:off x="7462431" y="6678346"/>
            <a:ext cx="997960" cy="951804"/>
          </a:xfrm>
          <a:custGeom>
            <a:avLst/>
            <a:gdLst/>
            <a:ahLst/>
            <a:cxnLst/>
            <a:rect l="l" t="t" r="r" b="b"/>
            <a:pathLst>
              <a:path w="997960" h="951804">
                <a:moveTo>
                  <a:pt x="0" y="0"/>
                </a:moveTo>
                <a:lnTo>
                  <a:pt x="997959" y="0"/>
                </a:lnTo>
                <a:lnTo>
                  <a:pt x="997959" y="951805"/>
                </a:lnTo>
                <a:lnTo>
                  <a:pt x="0" y="9518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3"/>
          <p:cNvSpPr/>
          <p:nvPr/>
        </p:nvSpPr>
        <p:spPr>
          <a:xfrm>
            <a:off x="7463084" y="4278411"/>
            <a:ext cx="996653" cy="951804"/>
          </a:xfrm>
          <a:custGeom>
            <a:avLst/>
            <a:gdLst/>
            <a:ahLst/>
            <a:cxnLst/>
            <a:rect l="l" t="t" r="r" b="b"/>
            <a:pathLst>
              <a:path w="996653" h="951804">
                <a:moveTo>
                  <a:pt x="0" y="0"/>
                </a:moveTo>
                <a:lnTo>
                  <a:pt x="996653" y="0"/>
                </a:lnTo>
                <a:lnTo>
                  <a:pt x="996653" y="951804"/>
                </a:lnTo>
                <a:lnTo>
                  <a:pt x="0" y="9518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4394313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99302" y="3898923"/>
            <a:ext cx="227045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成果展示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18241" y="4394313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18241" y="3898923"/>
            <a:ext cx="227045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实际收益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794248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9302" y="6298859"/>
            <a:ext cx="227045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精神收益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18241" y="6794248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18241" y="6298859"/>
            <a:ext cx="227045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货币收益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工作不足之处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Shortcomings of the work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33" name="Freeform 33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35" name="Freeform 35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37" name="Freeform 37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5" name="Freeform 5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7" name="Freeform 7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9" name="Freeform 9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下步工作方向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Next work direction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3564552"/>
            <a:ext cx="9144000" cy="4779459"/>
            <a:chOff x="0" y="0"/>
            <a:chExt cx="12192000" cy="6372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0" cy="6372606"/>
            </a:xfrm>
            <a:custGeom>
              <a:avLst/>
              <a:gdLst/>
              <a:ahLst/>
              <a:cxnLst/>
              <a:rect l="l" t="t" r="r" b="b"/>
              <a:pathLst>
                <a:path w="12192000" h="6372606">
                  <a:moveTo>
                    <a:pt x="0" y="0"/>
                  </a:moveTo>
                  <a:lnTo>
                    <a:pt x="12192000" y="0"/>
                  </a:lnTo>
                  <a:lnTo>
                    <a:pt x="12192000" y="6372606"/>
                  </a:lnTo>
                  <a:lnTo>
                    <a:pt x="0" y="6372606"/>
                  </a:lnTo>
                  <a:close/>
                </a:path>
              </a:pathLst>
            </a:custGeom>
            <a:blipFill>
              <a:blip r:embed="rId2"/>
              <a:stretch>
                <a:fillRect t="-13733" b="-13733"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86648" y="5326380"/>
            <a:ext cx="3314703" cy="1255803"/>
            <a:chOff x="0" y="0"/>
            <a:chExt cx="4419604" cy="16744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19600" cy="1674368"/>
            </a:xfrm>
            <a:custGeom>
              <a:avLst/>
              <a:gdLst/>
              <a:ahLst/>
              <a:cxnLst/>
              <a:rect l="l" t="t" r="r" b="b"/>
              <a:pathLst>
                <a:path w="4419600" h="1674368">
                  <a:moveTo>
                    <a:pt x="0" y="0"/>
                  </a:moveTo>
                  <a:lnTo>
                    <a:pt x="4419600" y="0"/>
                  </a:lnTo>
                  <a:lnTo>
                    <a:pt x="4419600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173878" y="5716157"/>
            <a:ext cx="194024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利益增加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18241" y="7015813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18241" y="5294198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18241" y="3572585"/>
            <a:ext cx="5641059" cy="12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86801"/>
            <a:ext cx="7792403" cy="3877711"/>
            <a:chOff x="0" y="0"/>
            <a:chExt cx="10389870" cy="5170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89870" cy="5170297"/>
            </a:xfrm>
            <a:custGeom>
              <a:avLst/>
              <a:gdLst/>
              <a:ahLst/>
              <a:cxnLst/>
              <a:rect l="l" t="t" r="r" b="b"/>
              <a:pathLst>
                <a:path w="10389870" h="5170297">
                  <a:moveTo>
                    <a:pt x="0" y="0"/>
                  </a:moveTo>
                  <a:lnTo>
                    <a:pt x="10389870" y="0"/>
                  </a:lnTo>
                  <a:lnTo>
                    <a:pt x="10389870" y="5170297"/>
                  </a:lnTo>
                  <a:lnTo>
                    <a:pt x="0" y="517029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067650" y="6607263"/>
            <a:ext cx="1714500" cy="1714500"/>
            <a:chOff x="0" y="0"/>
            <a:chExt cx="22860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0" y="1143000"/>
                  </a:moveTo>
                  <a:lnTo>
                    <a:pt x="1143000" y="0"/>
                  </a:lnTo>
                  <a:lnTo>
                    <a:pt x="2286000" y="1143000"/>
                  </a:lnTo>
                  <a:lnTo>
                    <a:pt x="11430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59091" y="6698703"/>
            <a:ext cx="1531620" cy="1531620"/>
            <a:chOff x="0" y="0"/>
            <a:chExt cx="2042160" cy="2042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2160" cy="2042160"/>
            </a:xfrm>
            <a:custGeom>
              <a:avLst/>
              <a:gdLst/>
              <a:ahLst/>
              <a:cxnLst/>
              <a:rect l="l" t="t" r="r" b="b"/>
              <a:pathLst>
                <a:path w="2042160" h="2042160">
                  <a:moveTo>
                    <a:pt x="0" y="1021080"/>
                  </a:moveTo>
                  <a:lnTo>
                    <a:pt x="1021080" y="0"/>
                  </a:lnTo>
                  <a:lnTo>
                    <a:pt x="2042160" y="1021080"/>
                  </a:lnTo>
                  <a:lnTo>
                    <a:pt x="1021080" y="204216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66898" y="3586801"/>
            <a:ext cx="7792403" cy="3877711"/>
            <a:chOff x="0" y="0"/>
            <a:chExt cx="10389870" cy="51702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89870" cy="5170297"/>
            </a:xfrm>
            <a:custGeom>
              <a:avLst/>
              <a:gdLst/>
              <a:ahLst/>
              <a:cxnLst/>
              <a:rect l="l" t="t" r="r" b="b"/>
              <a:pathLst>
                <a:path w="10389870" h="5170297">
                  <a:moveTo>
                    <a:pt x="0" y="0"/>
                  </a:moveTo>
                  <a:lnTo>
                    <a:pt x="10389870" y="0"/>
                  </a:lnTo>
                  <a:lnTo>
                    <a:pt x="10389870" y="5170297"/>
                  </a:lnTo>
                  <a:lnTo>
                    <a:pt x="0" y="5170297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05848" y="6607263"/>
            <a:ext cx="1714500" cy="1714500"/>
            <a:chOff x="0" y="0"/>
            <a:chExt cx="22860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0" y="1143000"/>
                  </a:moveTo>
                  <a:lnTo>
                    <a:pt x="1143000" y="0"/>
                  </a:lnTo>
                  <a:lnTo>
                    <a:pt x="2286000" y="1143000"/>
                  </a:lnTo>
                  <a:lnTo>
                    <a:pt x="11430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97288" y="6698703"/>
            <a:ext cx="1531620" cy="1531620"/>
            <a:chOff x="0" y="0"/>
            <a:chExt cx="2042160" cy="20421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2160" cy="2042160"/>
            </a:xfrm>
            <a:custGeom>
              <a:avLst/>
              <a:gdLst/>
              <a:ahLst/>
              <a:cxnLst/>
              <a:rect l="l" t="t" r="r" b="b"/>
              <a:pathLst>
                <a:path w="2042160" h="2042160">
                  <a:moveTo>
                    <a:pt x="0" y="1021080"/>
                  </a:moveTo>
                  <a:lnTo>
                    <a:pt x="1021080" y="0"/>
                  </a:lnTo>
                  <a:lnTo>
                    <a:pt x="2042160" y="1021080"/>
                  </a:lnTo>
                  <a:lnTo>
                    <a:pt x="1021080" y="2042160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91464" y="7182535"/>
            <a:ext cx="743269" cy="563955"/>
          </a:xfrm>
          <a:custGeom>
            <a:avLst/>
            <a:gdLst/>
            <a:ahLst/>
            <a:cxnLst/>
            <a:rect l="l" t="t" r="r" b="b"/>
            <a:pathLst>
              <a:path w="743269" h="563955">
                <a:moveTo>
                  <a:pt x="0" y="0"/>
                </a:moveTo>
                <a:lnTo>
                  <a:pt x="743269" y="0"/>
                </a:lnTo>
                <a:lnTo>
                  <a:pt x="743269" y="563956"/>
                </a:lnTo>
                <a:lnTo>
                  <a:pt x="0" y="563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5"/>
          <p:cNvSpPr/>
          <p:nvPr/>
        </p:nvSpPr>
        <p:spPr>
          <a:xfrm>
            <a:off x="4542559" y="7182535"/>
            <a:ext cx="764685" cy="563955"/>
          </a:xfrm>
          <a:custGeom>
            <a:avLst/>
            <a:gdLst/>
            <a:ahLst/>
            <a:cxnLst/>
            <a:rect l="l" t="t" r="r" b="b"/>
            <a:pathLst>
              <a:path w="764685" h="563955">
                <a:moveTo>
                  <a:pt x="0" y="0"/>
                </a:moveTo>
                <a:lnTo>
                  <a:pt x="764685" y="0"/>
                </a:lnTo>
                <a:lnTo>
                  <a:pt x="764685" y="563956"/>
                </a:lnTo>
                <a:lnTo>
                  <a:pt x="0" y="56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229602" y="3976527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未来目标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6292" y="4471917"/>
            <a:ext cx="6777216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7800" y="3976527"/>
            <a:ext cx="33905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战略规划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74490" y="4471917"/>
            <a:ext cx="6777216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演示文稿是一种实用的工具，可以是演示，演讲，报告等。大部分时间，它们都是在为观众服务。它们有多种用途，是演讲和教学的有力工具。如果您想在演示文稿中展现内容，可以选择多种可以选择多种方式。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0" y="0"/>
            <a:ext cx="1507002" cy="1811088"/>
            <a:chOff x="0" y="0"/>
            <a:chExt cx="2009336" cy="24147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09394" cy="2414778"/>
            </a:xfrm>
            <a:custGeom>
              <a:avLst/>
              <a:gdLst/>
              <a:ahLst/>
              <a:cxnLst/>
              <a:rect l="l" t="t" r="r" b="b"/>
              <a:pathLst>
                <a:path w="2009394" h="2414778">
                  <a:moveTo>
                    <a:pt x="0" y="0"/>
                  </a:moveTo>
                  <a:lnTo>
                    <a:pt x="2009394" y="0"/>
                  </a:lnTo>
                  <a:lnTo>
                    <a:pt x="942594" y="1847723"/>
                  </a:lnTo>
                  <a:cubicBezTo>
                    <a:pt x="745998" y="2188337"/>
                    <a:pt x="400050" y="2388997"/>
                    <a:pt x="35179" y="2414778"/>
                  </a:cubicBezTo>
                  <a:lnTo>
                    <a:pt x="0" y="2413889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6356" y="0"/>
            <a:ext cx="1235022" cy="1070356"/>
            <a:chOff x="0" y="0"/>
            <a:chExt cx="1646696" cy="1427142"/>
          </a:xfrm>
        </p:grpSpPr>
        <p:sp>
          <p:nvSpPr>
            <p:cNvPr id="23" name="Freeform 23"/>
            <p:cNvSpPr/>
            <p:nvPr/>
          </p:nvSpPr>
          <p:spPr>
            <a:xfrm>
              <a:off x="18" y="0"/>
              <a:ext cx="1646664" cy="1427081"/>
            </a:xfrm>
            <a:custGeom>
              <a:avLst/>
              <a:gdLst/>
              <a:ahLst/>
              <a:cxnLst/>
              <a:rect l="l" t="t" r="r" b="b"/>
              <a:pathLst>
                <a:path w="1646664" h="1427081">
                  <a:moveTo>
                    <a:pt x="442196" y="0"/>
                  </a:moveTo>
                  <a:lnTo>
                    <a:pt x="1646664" y="0"/>
                  </a:lnTo>
                  <a:lnTo>
                    <a:pt x="973310" y="1166241"/>
                  </a:lnTo>
                  <a:cubicBezTo>
                    <a:pt x="829292" y="1415669"/>
                    <a:pt x="510268" y="1501140"/>
                    <a:pt x="260840" y="1357122"/>
                  </a:cubicBezTo>
                  <a:cubicBezTo>
                    <a:pt x="11412" y="1213104"/>
                    <a:pt x="-74059" y="894207"/>
                    <a:pt x="69959" y="64465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669660" y="9078393"/>
            <a:ext cx="1618340" cy="1208607"/>
            <a:chOff x="0" y="0"/>
            <a:chExt cx="2157786" cy="1611476"/>
          </a:xfrm>
        </p:grpSpPr>
        <p:sp>
          <p:nvSpPr>
            <p:cNvPr id="25" name="Freeform 25"/>
            <p:cNvSpPr/>
            <p:nvPr/>
          </p:nvSpPr>
          <p:spPr>
            <a:xfrm>
              <a:off x="0" y="-50"/>
              <a:ext cx="2157730" cy="1611553"/>
            </a:xfrm>
            <a:custGeom>
              <a:avLst/>
              <a:gdLst/>
              <a:ahLst/>
              <a:cxnLst/>
              <a:rect l="l" t="t" r="r" b="b"/>
              <a:pathLst>
                <a:path w="2157730" h="1611553">
                  <a:moveTo>
                    <a:pt x="1508760" y="2844"/>
                  </a:moveTo>
                  <a:cubicBezTo>
                    <a:pt x="1727708" y="-12650"/>
                    <a:pt x="1953387" y="34848"/>
                    <a:pt x="2157730" y="152831"/>
                  </a:cubicBezTo>
                  <a:lnTo>
                    <a:pt x="2157730" y="1611553"/>
                  </a:lnTo>
                  <a:lnTo>
                    <a:pt x="0" y="1611553"/>
                  </a:lnTo>
                  <a:lnTo>
                    <a:pt x="601345" y="569899"/>
                  </a:lnTo>
                  <a:cubicBezTo>
                    <a:pt x="798068" y="229285"/>
                    <a:pt x="1143889" y="28625"/>
                    <a:pt x="1508760" y="284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715812" y="8731245"/>
            <a:ext cx="572188" cy="1283784"/>
            <a:chOff x="0" y="0"/>
            <a:chExt cx="762918" cy="1711712"/>
          </a:xfrm>
        </p:grpSpPr>
        <p:sp>
          <p:nvSpPr>
            <p:cNvPr id="27" name="Freeform 27"/>
            <p:cNvSpPr/>
            <p:nvPr/>
          </p:nvSpPr>
          <p:spPr>
            <a:xfrm>
              <a:off x="3" y="0"/>
              <a:ext cx="762886" cy="1711759"/>
            </a:xfrm>
            <a:custGeom>
              <a:avLst/>
              <a:gdLst/>
              <a:ahLst/>
              <a:cxnLst/>
              <a:rect l="l" t="t" r="r" b="b"/>
              <a:pathLst>
                <a:path w="762886" h="1711759">
                  <a:moveTo>
                    <a:pt x="762886" y="0"/>
                  </a:moveTo>
                  <a:lnTo>
                    <a:pt x="762886" y="1231392"/>
                  </a:lnTo>
                  <a:lnTo>
                    <a:pt x="574418" y="1557782"/>
                  </a:lnTo>
                  <a:cubicBezTo>
                    <a:pt x="489455" y="1704975"/>
                    <a:pt x="301114" y="1755521"/>
                    <a:pt x="153921" y="1670431"/>
                  </a:cubicBezTo>
                  <a:cubicBezTo>
                    <a:pt x="6728" y="1585341"/>
                    <a:pt x="-43691" y="1397127"/>
                    <a:pt x="41272" y="1249934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122319" y="411261"/>
            <a:ext cx="4043362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下步工作方向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2319" y="1205616"/>
            <a:ext cx="404336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Next work direction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938260" y="1659328"/>
            <a:ext cx="108783" cy="108783"/>
            <a:chOff x="0" y="0"/>
            <a:chExt cx="145044" cy="1450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89608" y="1659328"/>
            <a:ext cx="108783" cy="108783"/>
            <a:chOff x="0" y="0"/>
            <a:chExt cx="145044" cy="1450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40957" y="1659328"/>
            <a:ext cx="108783" cy="108783"/>
            <a:chOff x="0" y="0"/>
            <a:chExt cx="145044" cy="1450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5034" cy="145034"/>
            </a:xfrm>
            <a:custGeom>
              <a:avLst/>
              <a:gdLst/>
              <a:ahLst/>
              <a:cxnLst/>
              <a:rect l="l" t="t" r="r" b="b"/>
              <a:pathLst>
                <a:path w="145034" h="145034">
                  <a:moveTo>
                    <a:pt x="0" y="72517"/>
                  </a:moveTo>
                  <a:cubicBezTo>
                    <a:pt x="0" y="32512"/>
                    <a:pt x="32512" y="0"/>
                    <a:pt x="72517" y="0"/>
                  </a:cubicBezTo>
                  <a:cubicBezTo>
                    <a:pt x="112522" y="0"/>
                    <a:pt x="145034" y="32512"/>
                    <a:pt x="145034" y="72517"/>
                  </a:cubicBezTo>
                  <a:cubicBezTo>
                    <a:pt x="145034" y="112522"/>
                    <a:pt x="112522" y="145034"/>
                    <a:pt x="72517" y="145034"/>
                  </a:cubicBezTo>
                  <a:cubicBezTo>
                    <a:pt x="32512" y="145034"/>
                    <a:pt x="0" y="112522"/>
                    <a:pt x="0" y="72517"/>
                  </a:cubicBez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3182576" y="1441590"/>
            <a:ext cx="5105424" cy="8845410"/>
            <a:chOff x="0" y="0"/>
            <a:chExt cx="6807232" cy="11793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105424" cy="8845410"/>
            <a:chOff x="0" y="0"/>
            <a:chExt cx="6807232" cy="11793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07200" cy="11793855"/>
            </a:xfrm>
            <a:custGeom>
              <a:avLst/>
              <a:gdLst/>
              <a:ahLst/>
              <a:cxnLst/>
              <a:rect l="l" t="t" r="r" b="b"/>
              <a:pathLst>
                <a:path w="6807200" h="11793855">
                  <a:moveTo>
                    <a:pt x="0" y="0"/>
                  </a:moveTo>
                  <a:lnTo>
                    <a:pt x="6807200" y="0"/>
                  </a:lnTo>
                  <a:lnTo>
                    <a:pt x="6791833" y="30099"/>
                  </a:lnTo>
                  <a:lnTo>
                    <a:pt x="0" y="11793855"/>
                  </a:lnTo>
                  <a:close/>
                </a:path>
              </a:pathLst>
            </a:custGeom>
            <a:solidFill>
              <a:srgbClr val="113AA6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1800000">
            <a:off x="15570334" y="3032778"/>
            <a:ext cx="1943148" cy="2866262"/>
            <a:chOff x="0" y="0"/>
            <a:chExt cx="2590864" cy="38216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0800" cy="3821557"/>
            </a:xfrm>
            <a:custGeom>
              <a:avLst/>
              <a:gdLst/>
              <a:ahLst/>
              <a:cxnLst/>
              <a:rect l="l" t="t" r="r" b="b"/>
              <a:pathLst>
                <a:path w="2590800" h="3821557">
                  <a:moveTo>
                    <a:pt x="0" y="1295400"/>
                  </a:moveTo>
                  <a:cubicBezTo>
                    <a:pt x="0" y="580009"/>
                    <a:pt x="580009" y="0"/>
                    <a:pt x="1295400" y="0"/>
                  </a:cubicBezTo>
                  <a:cubicBezTo>
                    <a:pt x="2010791" y="0"/>
                    <a:pt x="2590800" y="580009"/>
                    <a:pt x="2590800" y="1295400"/>
                  </a:cubicBezTo>
                  <a:lnTo>
                    <a:pt x="2590800" y="2526157"/>
                  </a:lnTo>
                  <a:cubicBezTo>
                    <a:pt x="2590800" y="3241548"/>
                    <a:pt x="2010791" y="3821557"/>
                    <a:pt x="1295400" y="3821557"/>
                  </a:cubicBezTo>
                  <a:cubicBezTo>
                    <a:pt x="580009" y="3821557"/>
                    <a:pt x="0" y="3241675"/>
                    <a:pt x="0" y="2526284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3576" y="0"/>
            <a:ext cx="5685201" cy="7192550"/>
            <a:chOff x="0" y="0"/>
            <a:chExt cx="7580268" cy="9590066"/>
          </a:xfrm>
        </p:grpSpPr>
        <p:sp>
          <p:nvSpPr>
            <p:cNvPr id="9" name="Freeform 9"/>
            <p:cNvSpPr/>
            <p:nvPr/>
          </p:nvSpPr>
          <p:spPr>
            <a:xfrm>
              <a:off x="12" y="0"/>
              <a:ext cx="7580237" cy="9590139"/>
            </a:xfrm>
            <a:custGeom>
              <a:avLst/>
              <a:gdLst/>
              <a:ahLst/>
              <a:cxnLst/>
              <a:rect l="l" t="t" r="r" b="b"/>
              <a:pathLst>
                <a:path w="7580237" h="9590139">
                  <a:moveTo>
                    <a:pt x="4588625" y="0"/>
                  </a:moveTo>
                  <a:lnTo>
                    <a:pt x="7580237" y="0"/>
                  </a:lnTo>
                  <a:lnTo>
                    <a:pt x="2417560" y="8942197"/>
                  </a:lnTo>
                  <a:cubicBezTo>
                    <a:pt x="2059801" y="9561830"/>
                    <a:pt x="1267575" y="9774047"/>
                    <a:pt x="647942" y="9416415"/>
                  </a:cubicBezTo>
                  <a:cubicBezTo>
                    <a:pt x="28309" y="9058783"/>
                    <a:pt x="-183908" y="8266430"/>
                    <a:pt x="173724" y="7646797"/>
                  </a:cubicBezTo>
                  <a:lnTo>
                    <a:pt x="4588625" y="0"/>
                  </a:ln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59224" y="6674886"/>
            <a:ext cx="3618035" cy="3612114"/>
            <a:chOff x="0" y="0"/>
            <a:chExt cx="4824046" cy="4816152"/>
          </a:xfrm>
        </p:grpSpPr>
        <p:sp>
          <p:nvSpPr>
            <p:cNvPr id="11" name="Freeform 11"/>
            <p:cNvSpPr/>
            <p:nvPr/>
          </p:nvSpPr>
          <p:spPr>
            <a:xfrm>
              <a:off x="0" y="-67"/>
              <a:ext cx="4824083" cy="4816161"/>
            </a:xfrm>
            <a:custGeom>
              <a:avLst/>
              <a:gdLst/>
              <a:ahLst/>
              <a:cxnLst/>
              <a:rect l="l" t="t" r="r" b="b"/>
              <a:pathLst>
                <a:path w="4824083" h="4816161">
                  <a:moveTo>
                    <a:pt x="3438271" y="3242"/>
                  </a:moveTo>
                  <a:cubicBezTo>
                    <a:pt x="3687191" y="-14411"/>
                    <a:pt x="3943858" y="39691"/>
                    <a:pt x="4176141" y="173803"/>
                  </a:cubicBezTo>
                  <a:cubicBezTo>
                    <a:pt x="4795774" y="531562"/>
                    <a:pt x="5007991" y="1323788"/>
                    <a:pt x="4650359" y="1943421"/>
                  </a:cubicBezTo>
                  <a:lnTo>
                    <a:pt x="2991739" y="4816161"/>
                  </a:lnTo>
                  <a:lnTo>
                    <a:pt x="0" y="4816161"/>
                  </a:lnTo>
                  <a:lnTo>
                    <a:pt x="2406523" y="648021"/>
                  </a:lnTo>
                  <a:cubicBezTo>
                    <a:pt x="2630043" y="260798"/>
                    <a:pt x="3023362" y="32579"/>
                    <a:pt x="3438271" y="3242"/>
                  </a:cubicBezTo>
                  <a:close/>
                </a:path>
              </a:pathLst>
            </a:custGeom>
            <a:solidFill>
              <a:srgbClr val="4C77D2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58513" y="8242818"/>
            <a:ext cx="397097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阿里巴巴普惠体"/>
                <a:ea typeface="阿里巴巴普惠体"/>
                <a:cs typeface="阿里巴巴普惠体"/>
                <a:sym typeface="阿里巴巴普惠体"/>
              </a:rPr>
              <a:t>汇报人：张小可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5424" y="6636487"/>
            <a:ext cx="807715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>
                <a:solidFill>
                  <a:srgbClr val="000000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05424" y="4853146"/>
            <a:ext cx="8077152" cy="15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06"/>
              </a:lnSpc>
            </a:pPr>
            <a:r>
              <a:rPr lang="en-US" sz="10422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感谢您的观看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05424" y="2768075"/>
            <a:ext cx="8077152" cy="190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8"/>
              </a:lnSpc>
            </a:pPr>
            <a:r>
              <a:rPr lang="en-US" sz="12506">
                <a:solidFill>
                  <a:srgbClr val="113AA6"/>
                </a:solidFill>
                <a:latin typeface="字由点字倔强黑"/>
                <a:ea typeface="字由点字倔强黑"/>
                <a:cs typeface="字由点字倔强黑"/>
                <a:sym typeface="字由点字倔强黑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895</Words>
  <Application>Microsoft Office PowerPoint</Application>
  <PresentationFormat>自定义</PresentationFormat>
  <Paragraphs>129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阿里巴巴普惠体</vt:lpstr>
      <vt:lpstr>字由点字倔强黑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蓝色简约风年度总结汇报PPT演示文稿</dc:title>
  <cp:lastModifiedBy>Red Estelle</cp:lastModifiedBy>
  <cp:revision>3</cp:revision>
  <dcterms:created xsi:type="dcterms:W3CDTF">2006-08-16T00:00:00Z</dcterms:created>
  <dcterms:modified xsi:type="dcterms:W3CDTF">2026-03-15T10:02:03Z</dcterms:modified>
  <dc:identifier>DAHEAEBdjUw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{"Label":"1","ContentProducer":"001191110105MA01AN806X00000","ProduceID":"DAHEAEBdjUw","ReservedCode1":"","ContentPropagator":"001191110105MA01AN806X00000","PropagateID":"DAHEAEBdjUw","ReservedCode2":""}</vt:lpwstr>
  </property>
</Properties>
</file>